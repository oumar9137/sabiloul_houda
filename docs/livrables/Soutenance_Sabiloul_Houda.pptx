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0" d="100"/>
          <a:sy n="70" d="100"/>
        </p:scale>
        <p:origin x="51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MODÈLE À COMPLÉTER. Remplacez tous les textes gris entre crochets, puis mettez-les en couleur normale. Supprimez ces notes ou remplacez-les par vos propres notes.</a:t>
            </a:r>
            <a:br/>
            <a:r>
              <a:t/>
            </a:r>
            <a:br/>
            <a:r>
              <a:t>Durée totale : 8 minutes, démonstration comprise. 10 diapositives au maximum (sans compter l’annexe). Ne lisez pas les diapositives : elles servent de repère, c’est vous qui expliquez.</a:t>
            </a:r>
            <a:br/>
            <a:r>
              <a:t/>
            </a:r>
            <a:br/>
            <a:r>
              <a:t>Cette diapo : 15 secondes. Chaque membre se présente en une phrase.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secondes. Parlez du client comme d’une vraie personne. Pas de théorie sur l’informatique de gestion : le jury veut savoir à quoi sert VOTRE application.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secondes. Une phrase par bloc. Si votre projet n’a pas de base de données, remplacez « Données » par le fichier utilisé (CSV, texte).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secondes. Agrandissez la capture pour qu’elle soit lisible au fond de la salle. Le membre qui a conçu la base la présente.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à 5 minutes : c’est le cœur de la soutenance. Préparez des données d’exemple AVANT (pas de saisie longue devant le jury). Montrez au moins une erreur de saisie bien gérée. Répétez la démonstration chronomètre en main.</a:t>
            </a:r>
            <a:br/>
            <a:r>
              <a:t/>
            </a:r>
            <a:br/>
            <a:r>
              <a:t>Données fictives uniquement : pas de vrais noms ni de vrais numéros.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Le syllabus demande au moins deux assistants d’IA. Dites franchement ce qui n’a pas marché : c’est noté dans « esprit critique » (25 %).</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C’est la diapo la plus importante pour l’esprit critique. Exemples vus en cours : fonction SQLite (strftime) en MySQL, WHERE au lieu de HAVING, requête concaténée (injection SQL), méthode inventée par Copilot, innerHTML avec les données. Gardez une deuxième erreur en réserve pour les questions.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secondes. Un test = une entrée, un résultat attendu calculé à l’avance, le résultat obtenu. Si un test échoue encore, dites-le : c’est mieux que de le cacher. Le lien avec la loi n° 2013-015 a été vu au cours de la séance 7.</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secondes. Ajoutez une ligne par membre du tableau. Le jury s’en sert pour choisir à qui poser les questions : chaque membre doit pouvoir expliquer chaque partie.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Laissez cette diapo affichée pendant les 5 minutes de questions. Gardez l’application ouverte : le jury peut vous demander de montrer une partie du code.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À montrer seulement si l’ordinateur ou le vidéoprojecteur ne fonctionne pas. Une capture par étape de la diapo « Démonstration ». Sous Windows : touche Impr. écran, ou Windows + Maj + S pour une zone.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4112263-1598-4804-B037-C83EE6829ABC}"/>
              </a:ext>
            </a:extLst>
          </p:cNvPr>
          <p:cNvSpPr>
            <a:spLocks noGrp="1"/>
          </p:cNvSpPr>
          <p:nvPr>
            <p:ph type="title" idx="100" hasCustomPrompt="1"/>
          </p:nvPr>
        </p:nvSpPr>
        <p:spPr>
          <a:xfrm>
            <a:off x="731520" y="2514600"/>
            <a:ext cx="10698480" cy="868680"/>
          </a:xfrm>
          <a:prstGeom prst="rect">
            <a:avLst/>
          </a:prstGeom>
          <a:noFill/>
        </p:spPr>
        <p:txBody>
          <a:bodyPr wrap="square"/>
          <a:lstStyle>
            <a:lvl1pPr marL="0" indent="0" algn="l">
              <a:buNone/>
              <a:defRPr sz="4400" b="1">
                <a:solidFill>
                  <a:schemeClr val="bg1"/>
                </a:solidFill>
              </a:defRPr>
            </a:lvl1pPr>
          </a:lstStyle>
          <a:p>
            <a:pPr marL="0" indent="0" algn="l">
              <a:buNone/>
            </a:pPr>
            <a:endParaRPr sz="4400"/>
          </a:p>
        </p:txBody>
      </p:sp>
      <p:sp>
        <p:nvSpPr>
          <p:cNvPr id="3" name="Text 0">
            <a:extLst>
              <a:ext uri="{FF2B5EF4-FFF2-40B4-BE49-F238E27FC236}">
                <a16:creationId xmlns:a16="http://schemas.microsoft.com/office/drawing/2014/main" id="{66B0F282-AA6E-456B-90A4-BB27B9B90283}"/>
              </a:ext>
            </a:extLst>
          </p:cNvPr>
          <p:cNvSpPr>
            <a:spLocks noGrp="1"/>
          </p:cNvSpPr>
          <p:nvPr>
            <p:ph type="body" idx="101" hasCustomPrompt="1"/>
          </p:nvPr>
        </p:nvSpPr>
        <p:spPr>
          <a:xfrm>
            <a:off x="731520" y="3429000"/>
            <a:ext cx="10698480" cy="548640"/>
          </a:xfrm>
          <a:prstGeom prst="rect">
            <a:avLst/>
          </a:prstGeom>
          <a:noFill/>
        </p:spPr>
        <p:txBody>
          <a:bodyPr wrap="square"/>
          <a:lstStyle>
            <a:lvl1pPr marL="0" indent="0" algn="l">
              <a:buNone/>
              <a:defRPr sz="2200">
                <a:solidFill>
                  <a:schemeClr val="accent3"/>
                </a:solidFill>
              </a:defRPr>
            </a:lvl1pPr>
          </a:lstStyle>
          <a:p>
            <a:pPr marL="0" indent="0" algn="l">
              <a:buNone/>
            </a:pPr>
            <a:endParaRPr sz="2200"/>
          </a:p>
        </p:txBody>
      </p:sp>
      <p:sp>
        <p:nvSpPr>
          <p:cNvPr id="4" name="Text 0">
            <a:extLst>
              <a:ext uri="{FF2B5EF4-FFF2-40B4-BE49-F238E27FC236}">
                <a16:creationId xmlns:a16="http://schemas.microsoft.com/office/drawing/2014/main" id="{2EC8022A-F454-40B4-8906-B3C74F677CE5}"/>
              </a:ext>
            </a:extLst>
          </p:cNvPr>
          <p:cNvSpPr>
            <a:spLocks noGrp="1"/>
          </p:cNvSpPr>
          <p:nvPr>
            <p:ph type="body" idx="102" hasCustomPrompt="1"/>
          </p:nvPr>
        </p:nvSpPr>
        <p:spPr>
          <a:xfrm>
            <a:off x="731520" y="4069080"/>
            <a:ext cx="10698480" cy="411480"/>
          </a:xfrm>
          <a:prstGeom prst="rect">
            <a:avLst/>
          </a:prstGeom>
          <a:noFill/>
        </p:spPr>
        <p:txBody>
          <a:bodyPr wrap="square"/>
          <a:lstStyle>
            <a:lvl1pPr marL="0" indent="0" algn="l">
              <a:buNone/>
              <a:defRPr sz="1500">
                <a:solidFill>
                  <a:schemeClr val="accent5"/>
                </a:solidFill>
              </a:defRPr>
            </a:lvl1pPr>
          </a:lstStyle>
          <a:p>
            <a:pPr marL="0" indent="0" algn="l">
              <a:buNone/>
            </a:pPr>
            <a:endParaRPr sz="15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842A873-635C-4A71-A5FF-AEDAD8512A31}"/>
              </a:ext>
            </a:extLst>
          </p:cNvPr>
          <p:cNvSpPr>
            <a:spLocks noGrp="1"/>
          </p:cNvSpPr>
          <p:nvPr>
            <p:ph type="body" idx="100" hasCustomPrompt="1"/>
          </p:nvPr>
        </p:nvSpPr>
        <p:spPr>
          <a:xfrm>
            <a:off x="731520" y="2240280"/>
            <a:ext cx="7772400" cy="365760"/>
          </a:xfrm>
          <a:prstGeom prst="rect">
            <a:avLst/>
          </a:prstGeom>
          <a:noFill/>
        </p:spPr>
        <p:txBody>
          <a:bodyPr wrap="square"/>
          <a:lstStyle>
            <a:lvl1pPr marL="0" indent="0" algn="l">
              <a:buNone/>
              <a:defRPr sz="1600" b="1">
                <a:solidFill>
                  <a:schemeClr val="accent3"/>
                </a:solidFill>
              </a:defRPr>
            </a:lvl1pPr>
          </a:lstStyle>
          <a:p>
            <a:pPr marL="0" indent="0" algn="l">
              <a:buNone/>
            </a:pPr>
            <a:endParaRPr sz="1600"/>
          </a:p>
        </p:txBody>
      </p:sp>
      <p:sp>
        <p:nvSpPr>
          <p:cNvPr id="3" name="Text 0">
            <a:extLst>
              <a:ext uri="{FF2B5EF4-FFF2-40B4-BE49-F238E27FC236}">
                <a16:creationId xmlns:a16="http://schemas.microsoft.com/office/drawing/2014/main" id="{6018E212-FE3D-4BD5-A2D2-BEA973949623}"/>
              </a:ext>
            </a:extLst>
          </p:cNvPr>
          <p:cNvSpPr>
            <a:spLocks noGrp="1"/>
          </p:cNvSpPr>
          <p:nvPr>
            <p:ph type="title" idx="101" hasCustomPrompt="1"/>
          </p:nvPr>
        </p:nvSpPr>
        <p:spPr>
          <a:xfrm>
            <a:off x="731520" y="2651760"/>
            <a:ext cx="8412480" cy="1280160"/>
          </a:xfrm>
          <a:prstGeom prst="rect">
            <a:avLst/>
          </a:prstGeom>
          <a:noFill/>
        </p:spPr>
        <p:txBody>
          <a:bodyPr wrap="square"/>
          <a:lstStyle>
            <a:lvl1pPr marL="0" indent="0" algn="l">
              <a:buNone/>
              <a:defRPr sz="3600" b="1">
                <a:solidFill>
                  <a:schemeClr val="bg1"/>
                </a:solidFill>
              </a:defRPr>
            </a:lvl1pPr>
          </a:lstStyle>
          <a:p>
            <a:pPr marL="0" indent="0" algn="l">
              <a:buNone/>
            </a:pPr>
            <a:endParaRPr sz="3600"/>
          </a:p>
        </p:txBody>
      </p:sp>
      <p:sp>
        <p:nvSpPr>
          <p:cNvPr id="4" name="Text 0">
            <a:extLst>
              <a:ext uri="{FF2B5EF4-FFF2-40B4-BE49-F238E27FC236}">
                <a16:creationId xmlns:a16="http://schemas.microsoft.com/office/drawing/2014/main" id="{3FA26AEC-42E3-4A53-8A6D-3EFBB973604B}"/>
              </a:ext>
            </a:extLst>
          </p:cNvPr>
          <p:cNvSpPr>
            <a:spLocks noGrp="1"/>
          </p:cNvSpPr>
          <p:nvPr>
            <p:ph type="body" idx="102" hasCustomPrompt="1"/>
          </p:nvPr>
        </p:nvSpPr>
        <p:spPr>
          <a:xfrm>
            <a:off x="9052560" y="1828800"/>
            <a:ext cx="2651760" cy="2194560"/>
          </a:xfrm>
          <a:prstGeom prst="rect">
            <a:avLst/>
          </a:prstGeom>
          <a:noFill/>
        </p:spPr>
        <p:txBody>
          <a:bodyPr wrap="square"/>
          <a:lstStyle>
            <a:lvl1pPr marL="0" indent="0" algn="r">
              <a:buNone/>
              <a:defRPr sz="13000" b="1">
                <a:solidFill>
                  <a:schemeClr val="accent1"/>
                </a:solidFill>
              </a:defRPr>
            </a:lvl1pPr>
          </a:lstStyle>
          <a:p>
            <a:pPr marL="0" indent="0" algn="r">
              <a:buNone/>
            </a:pPr>
            <a:endParaRPr sz="130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AF41D20-BEDE-41BD-8B1B-DA2C00716F11}"/>
              </a:ext>
            </a:extLst>
          </p:cNvPr>
          <p:cNvSpPr>
            <a:spLocks noGrp="1"/>
          </p:cNvSpPr>
          <p:nvPr>
            <p:ph type="title" idx="100" hasCustomPrompt="1"/>
          </p:nvPr>
        </p:nvSpPr>
        <p:spPr>
          <a:xfrm>
            <a:off x="612648" y="384048"/>
            <a:ext cx="10972800" cy="777240"/>
          </a:xfrm>
          <a:prstGeom prst="rect">
            <a:avLst/>
          </a:prstGeom>
          <a:noFill/>
        </p:spPr>
        <p:txBody>
          <a:bodyPr wrap="square"/>
          <a:lstStyle>
            <a:lvl1pPr marL="0" indent="0" algn="l">
              <a:buNone/>
              <a:defRPr sz="3400" b="1">
                <a:solidFill>
                  <a:schemeClr val="tx1"/>
                </a:solidFill>
              </a:defRPr>
            </a:lvl1pPr>
          </a:lstStyle>
          <a:p>
            <a:pPr marL="0" indent="0" algn="l">
              <a:buNone/>
            </a:pPr>
            <a:r>
              <a:rPr lang="fr-FR" sz="3400" smtClean="0"/>
              <a:t>Projet de fin de cours · Sabiloul Houda · Groupe à préciser</a:t>
            </a:r>
            <a:endParaRPr sz="3400"/>
          </a:p>
        </p:txBody>
      </p:sp>
      <p:sp>
        <p:nvSpPr>
          <p:cNvPr id="3" name="Text 0">
            <a:extLst>
              <a:ext uri="{FF2B5EF4-FFF2-40B4-BE49-F238E27FC236}">
                <a16:creationId xmlns:a16="http://schemas.microsoft.com/office/drawing/2014/main" id="{3012ED53-CB52-4563-B325-AB62155A4CA0}"/>
              </a:ext>
            </a:extLst>
          </p:cNvPr>
          <p:cNvSpPr>
            <a:spLocks noGrp="1"/>
          </p:cNvSpPr>
          <p:nvPr/>
        </p:nvSpPr>
        <p:spPr>
          <a:xfrm>
            <a:off x="612648" y="6382512"/>
            <a:ext cx="5486400" cy="274320"/>
          </a:xfrm>
          <a:prstGeom prst="rect">
            <a:avLst/>
          </a:prstGeom>
          <a:noFill/>
        </p:spPr>
        <p:txBody>
          <a:bodyPr wrap="square" lIns="0" tIns="0" rIns="0" bIns="0" anchor="ctr"/>
          <a:lstStyle/>
          <a:p>
            <a:pPr marL="0" indent="0">
              <a:buNone/>
            </a:pPr>
            <a:r>
              <a:rPr lang="fr-FR" sz="1000" smtClean="0">
                <a:solidFill>
                  <a:schemeClr val="accent6"/>
                </a:solidFill>
              </a:rPr>
              <a:t>Projet de fin de cours · Sabiloul Houda · Groupe à préciser</a:t>
            </a:r>
            <a:endParaRPr sz="1000"/>
          </a:p>
        </p:txBody>
      </p:sp>
      <p:sp>
        <p:nvSpPr>
          <p:cNvPr id="25" name="Slide Number Placeholder 0">
            <a:extLst>
              <a:ext uri="{FF2B5EF4-FFF2-40B4-BE49-F238E27FC236}">
                <a16:creationId xmlns:a16="http://schemas.microsoft.com/office/drawing/2014/main" id="{A3A5CE07-FD37-464C-B86B-ED136CB169D7}"/>
              </a:ext>
            </a:extLst>
          </p:cNvPr>
          <p:cNvSpPr>
            <a:spLocks noGrp="1"/>
          </p:cNvSpPr>
          <p:nvPr>
            <p:ph type="sldNum" idx="4294967295"/>
          </p:nvPr>
        </p:nvSpPr>
        <p:spPr>
          <a:xfrm>
            <a:off x="11109960" y="6382512"/>
            <a:ext cx="457200" cy="274320"/>
          </a:xfrm>
          <a:prstGeom prst="rect">
            <a:avLst/>
          </a:prstGeom>
        </p:spPr>
        <p:txBody>
          <a:bodyPr/>
          <a:lstStyle>
            <a:lvl1pPr>
              <a:buNone/>
              <a:defRPr sz="1000">
                <a:solidFill>
                  <a:schemeClr val="accent6"/>
                </a:solidFill>
              </a:defRPr>
            </a:lvl1pPr>
          </a:lstStyle>
          <a:p>
            <a:pPr algn="r">
              <a:buNone/>
            </a:pPr>
            <a:fld id="{F7021451-1387-4CA6-816F-3879F97B5CBC}" type="slidenum">
              <a:rPr b="0"/>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OMBRE">
    <p:bg>
      <p:bgPr>
        <a:solidFill>
          <a:schemeClr val="tx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C501DDA-FD2C-4217-B616-684200E4D7CB}"/>
              </a:ext>
            </a:extLst>
          </p:cNvPr>
          <p:cNvSpPr>
            <a:spLocks noGrp="1"/>
          </p:cNvSpPr>
          <p:nvPr>
            <p:ph type="title" idx="100" hasCustomPrompt="1"/>
          </p:nvPr>
        </p:nvSpPr>
        <p:spPr>
          <a:xfrm>
            <a:off x="612648" y="384048"/>
            <a:ext cx="10972800" cy="777240"/>
          </a:xfrm>
          <a:prstGeom prst="rect">
            <a:avLst/>
          </a:prstGeom>
          <a:noFill/>
        </p:spPr>
        <p:txBody>
          <a:bodyPr wrap="square"/>
          <a:lstStyle>
            <a:lvl1pPr marL="0" indent="0" algn="l">
              <a:buNone/>
              <a:defRPr sz="3400" b="1">
                <a:solidFill>
                  <a:schemeClr val="bg1"/>
                </a:solidFill>
              </a:defRPr>
            </a:lvl1pPr>
          </a:lstStyle>
          <a:p>
            <a:pPr marL="0" indent="0" algn="l">
              <a:buNone/>
            </a:pPr>
            <a:r>
              <a:rPr lang="fr-FR" sz="3400" smtClean="0"/>
              <a:t>Projet de fin de cours · Sabiloul Houda · Groupe à préciser</a:t>
            </a:r>
            <a:endParaRPr sz="3400"/>
          </a:p>
        </p:txBody>
      </p:sp>
      <p:sp>
        <p:nvSpPr>
          <p:cNvPr id="3" name="Text 0">
            <a:extLst>
              <a:ext uri="{FF2B5EF4-FFF2-40B4-BE49-F238E27FC236}">
                <a16:creationId xmlns:a16="http://schemas.microsoft.com/office/drawing/2014/main" id="{FF26F613-C170-43F1-96F6-F0579B2E2D6D}"/>
              </a:ext>
            </a:extLst>
          </p:cNvPr>
          <p:cNvSpPr>
            <a:spLocks noGrp="1"/>
          </p:cNvSpPr>
          <p:nvPr/>
        </p:nvSpPr>
        <p:spPr>
          <a:xfrm>
            <a:off x="612648" y="6382512"/>
            <a:ext cx="5486400" cy="274320"/>
          </a:xfrm>
          <a:prstGeom prst="rect">
            <a:avLst/>
          </a:prstGeom>
          <a:noFill/>
        </p:spPr>
        <p:txBody>
          <a:bodyPr wrap="square" lIns="0" tIns="0" rIns="0" bIns="0" anchor="ctr"/>
          <a:lstStyle/>
          <a:p>
            <a:pPr marL="0" indent="0">
              <a:buNone/>
            </a:pPr>
            <a:r>
              <a:rPr lang="fr-FR" sz="1000" smtClean="0">
                <a:solidFill>
                  <a:schemeClr val="accent5"/>
                </a:solidFill>
              </a:rPr>
              <a:t>Projet de fin de cours · Sabiloul Houda · Groupe à préciser</a:t>
            </a:r>
            <a:endParaRPr sz="1000"/>
          </a:p>
        </p:txBody>
      </p:sp>
      <p:sp>
        <p:nvSpPr>
          <p:cNvPr id="25" name="Slide Number Placeholder 0">
            <a:extLst>
              <a:ext uri="{FF2B5EF4-FFF2-40B4-BE49-F238E27FC236}">
                <a16:creationId xmlns:a16="http://schemas.microsoft.com/office/drawing/2014/main" id="{4CD20877-91BD-4792-8064-70763C011397}"/>
              </a:ext>
            </a:extLst>
          </p:cNvPr>
          <p:cNvSpPr>
            <a:spLocks noGrp="1"/>
          </p:cNvSpPr>
          <p:nvPr>
            <p:ph type="sldNum" idx="4294967295"/>
          </p:nvPr>
        </p:nvSpPr>
        <p:spPr>
          <a:xfrm>
            <a:off x="11109960" y="6382512"/>
            <a:ext cx="457200" cy="274320"/>
          </a:xfrm>
          <a:prstGeom prst="rect">
            <a:avLst/>
          </a:prstGeom>
        </p:spPr>
        <p:txBody>
          <a:bodyPr/>
          <a:lstStyle>
            <a:lvl1pPr>
              <a:buNone/>
              <a:defRPr sz="1000">
                <a:solidFill>
                  <a:schemeClr val="accent5"/>
                </a:solidFill>
              </a:defRPr>
            </a:lvl1pPr>
          </a:lstStyle>
          <a:p>
            <a:pPr algn="r">
              <a:buNone/>
            </a:pPr>
            <a:fld id="{F7021451-1387-4CA6-816F-3879F97B5CBC}" type="slidenum">
              <a:rPr b="0"/>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354EA792-AA2F-4B07-B04E-705A97057C90}"/>
              </a:ext>
            </a:extLst>
          </p:cNvPr>
          <p:cNvSpPr>
            <a:spLocks noGrp="1"/>
          </p:cNvSpPr>
          <p:nvPr>
            <p:ph type="sldNum" idx="4294967295"/>
          </p:nvPr>
        </p:nvSpPr>
        <p:spPr>
          <a:xfrm>
            <a:off x="11109960" y="6382512"/>
            <a:ext cx="457200" cy="274320"/>
          </a:xfrm>
          <a:prstGeom prst="rect">
            <a:avLst/>
          </a:prstGeom>
        </p:spPr>
        <p:txBody>
          <a:bodyPr/>
          <a:lstStyle>
            <a:lvl1pPr>
              <a:buNone/>
              <a:defRPr sz="1000">
                <a:solidFill>
                  <a:schemeClr val="accent6"/>
                </a:solidFill>
              </a:defRPr>
            </a:lvl1pPr>
          </a:lstStyle>
          <a:p>
            <a:pPr algn="r">
              <a:buNone/>
            </a:pPr>
            <a:fld id="{F7021451-1387-4CA6-816F-3879F97B5CBC}" type="slidenum">
              <a:rPr b="0"/>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2AF629A-9630-409E-9D06-811C5184F38B}"/>
              </a:ext>
            </a:extLst>
          </p:cNvPr>
          <p:cNvSpPr>
            <a:spLocks noGrp="1"/>
          </p:cNvSpPr>
          <p:nvPr>
            <p:ph type="title" idx="100" hasCustomPrompt="1"/>
          </p:nvPr>
        </p:nvSpPr>
        <p:spPr>
          <a:xfrm>
            <a:off x="731520" y="2514600"/>
            <a:ext cx="10698480" cy="868680"/>
          </a:xfrm>
          <a:prstGeom prst="rect">
            <a:avLst/>
          </a:prstGeom>
          <a:noFill/>
        </p:spPr>
        <p:txBody>
          <a:bodyPr wrap="square" lIns="0" tIns="0" rIns="0" bIns="0" anchor="ctr"/>
          <a:lstStyle/>
          <a:p>
            <a:pPr marL="0" indent="0" algn="l">
              <a:buNone/>
            </a:pPr>
            <a:r>
              <a:rPr sz="4400" b="1">
                <a:solidFill>
                  <a:schemeClr val="bg1"/>
                </a:solidFill>
              </a:rPr>
              <a:t>Sabiloul Houda — Gestion scolaire</a:t>
            </a:r>
            <a:endParaRPr sz="4400"/>
          </a:p>
        </p:txBody>
      </p:sp>
      <p:sp>
        <p:nvSpPr>
          <p:cNvPr id="3" name="Text 0">
            <a:extLst>
              <a:ext uri="{FF2B5EF4-FFF2-40B4-BE49-F238E27FC236}">
                <a16:creationId xmlns:a16="http://schemas.microsoft.com/office/drawing/2014/main" id="{706EB2E3-3C94-4764-9F9D-7C5F008D707C}"/>
              </a:ext>
            </a:extLst>
          </p:cNvPr>
          <p:cNvSpPr>
            <a:spLocks noGrp="1"/>
          </p:cNvSpPr>
          <p:nvPr>
            <p:ph type="body" idx="101" hasCustomPrompt="1"/>
          </p:nvPr>
        </p:nvSpPr>
        <p:spPr>
          <a:xfrm>
            <a:off x="731520" y="3429000"/>
            <a:ext cx="10698480" cy="548640"/>
          </a:xfrm>
          <a:prstGeom prst="rect">
            <a:avLst/>
          </a:prstGeom>
          <a:noFill/>
        </p:spPr>
        <p:txBody>
          <a:bodyPr wrap="square" lIns="0" tIns="0" rIns="0" bIns="0" anchor="t"/>
          <a:lstStyle/>
          <a:p>
            <a:pPr marL="0" indent="0" algn="l">
              <a:buNone/>
            </a:pPr>
            <a:r>
              <a:rPr sz="2200">
                <a:solidFill>
                  <a:schemeClr val="accent3"/>
                </a:solidFill>
              </a:rPr>
              <a:t>Gérer élèves, notes, paiements et bulletins depuis une application Windows hors ligne.</a:t>
            </a:r>
            <a:endParaRPr sz="2200"/>
          </a:p>
        </p:txBody>
      </p:sp>
      <p:sp>
        <p:nvSpPr>
          <p:cNvPr id="4" name="Text 0">
            <a:extLst>
              <a:ext uri="{FF2B5EF4-FFF2-40B4-BE49-F238E27FC236}">
                <a16:creationId xmlns:a16="http://schemas.microsoft.com/office/drawing/2014/main" id="{5D341420-3C7C-401B-A024-F1EECC96FEF8}"/>
              </a:ext>
            </a:extLst>
          </p:cNvPr>
          <p:cNvSpPr>
            <a:spLocks noGrp="1"/>
          </p:cNvSpPr>
          <p:nvPr>
            <p:ph type="body" idx="102" hasCustomPrompt="1"/>
          </p:nvPr>
        </p:nvSpPr>
        <p:spPr>
          <a:xfrm>
            <a:off x="731520" y="4069080"/>
            <a:ext cx="10698480" cy="411480"/>
          </a:xfrm>
          <a:prstGeom prst="rect">
            <a:avLst/>
          </a:prstGeom>
          <a:noFill/>
        </p:spPr>
        <p:txBody>
          <a:bodyPr wrap="square" lIns="0" tIns="0" rIns="0" bIns="0" anchor="t"/>
          <a:lstStyle/>
          <a:p>
            <a:pPr marL="0" indent="0" algn="l">
              <a:buNone/>
            </a:pPr>
            <a:r>
              <a:rPr sz="1500" dirty="0">
                <a:solidFill>
                  <a:schemeClr val="accent5"/>
                </a:solidFill>
              </a:rPr>
              <a:t>Groupe à préciser · </a:t>
            </a:r>
            <a:r>
              <a:rPr lang="fr-FR" sz="1500" dirty="0" smtClean="0">
                <a:solidFill>
                  <a:schemeClr val="accent5"/>
                </a:solidFill>
              </a:rPr>
              <a:t>Nouhoun Berthe, Oumar Camara, Sékou Kaba Diakité</a:t>
            </a:r>
            <a:r>
              <a:rPr sz="1500" dirty="0" smtClean="0">
                <a:solidFill>
                  <a:schemeClr val="accent5"/>
                </a:solidFill>
              </a:rPr>
              <a:t>· </a:t>
            </a:r>
            <a:r>
              <a:rPr sz="1500" dirty="0">
                <a:solidFill>
                  <a:schemeClr val="accent5"/>
                </a:solidFill>
              </a:rPr>
              <a:t>IA et Codage informatique · L2 IG</a:t>
            </a:r>
            <a:endParaRPr sz="1500" dirty="0"/>
          </a:p>
        </p:txBody>
      </p:sp>
    </p:spTree>
    <p:extLst>
      <p:ext uri="{BB962C8B-B14F-4D97-AF65-F5344CB8AC3E}">
        <p14:creationId xmlns:p14="http://schemas.microsoft.com/office/powerpoint/2010/main" val="111944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FC5F5B2-7BF5-406D-BF39-8214ACD03A0A}"/>
              </a:ext>
            </a:extLst>
          </p:cNvPr>
          <p:cNvSpPr>
            <a:spLocks noGrp="1"/>
          </p:cNvSpPr>
          <p:nvPr>
            <p:ph type="title" idx="100" hasCustomPrompt="1"/>
          </p:nvPr>
        </p:nvSpPr>
        <p:spPr>
          <a:xfrm>
            <a:off x="612648" y="384048"/>
            <a:ext cx="10972800" cy="777240"/>
          </a:xfrm>
          <a:prstGeom prst="rect">
            <a:avLst/>
          </a:prstGeom>
          <a:noFill/>
        </p:spPr>
        <p:txBody>
          <a:bodyPr wrap="square" lIns="0" tIns="0" rIns="0" bIns="0" anchor="ctr"/>
          <a:lstStyle/>
          <a:p>
            <a:pPr marL="0" indent="0" algn="l">
              <a:buNone/>
            </a:pPr>
            <a:r>
              <a:rPr sz="3400" b="1">
                <a:solidFill>
                  <a:schemeClr val="tx1"/>
                </a:solidFill>
              </a:rPr>
              <a:t>Le besoin</a:t>
            </a:r>
            <a:endParaRPr sz="3400"/>
          </a:p>
        </p:txBody>
      </p:sp>
      <p:sp>
        <p:nvSpPr>
          <p:cNvPr id="3" name="carte-1">
            <a:extLst>
              <a:ext uri="{FF2B5EF4-FFF2-40B4-BE49-F238E27FC236}">
                <a16:creationId xmlns:a16="http://schemas.microsoft.com/office/drawing/2014/main" id="{DCA47AF5-D1DD-4409-9283-6284DD81803E}"/>
              </a:ext>
            </a:extLst>
          </p:cNvPr>
          <p:cNvSpPr>
            <a:spLocks noGrp="1"/>
          </p:cNvSpPr>
          <p:nvPr/>
        </p:nvSpPr>
        <p:spPr>
          <a:xfrm>
            <a:off x="612648" y="1417320"/>
            <a:ext cx="3474720" cy="3566160"/>
          </a:xfrm>
          <a:prstGeom prst="roundRect">
            <a:avLst>
              <a:gd name="adj" fmla="val 3158"/>
            </a:avLst>
          </a:prstGeom>
          <a:solidFill>
            <a:schemeClr val="bg1"/>
          </a:solidFill>
          <a:ln w="9525">
            <a:solidFill>
              <a:srgbClr val="E3E6EE"/>
            </a:solidFill>
            <a:prstDash val="solid"/>
          </a:ln>
          <a:effectLst>
            <a:outerShdw blurRad="101600" dist="25400" dir="5400000" algn="bl" rotWithShape="0">
              <a:srgbClr val="000000">
                <a:alpha val="8000"/>
              </a:srgbClr>
            </a:outerShdw>
          </a:effectLst>
        </p:spPr>
      </p:sp>
      <p:sp>
        <p:nvSpPr>
          <p:cNvPr id="4" name="pastille-2">
            <a:extLst>
              <a:ext uri="{FF2B5EF4-FFF2-40B4-BE49-F238E27FC236}">
                <a16:creationId xmlns:a16="http://schemas.microsoft.com/office/drawing/2014/main" id="{68730208-0FC1-4E5C-A369-97487775E319}"/>
              </a:ext>
            </a:extLst>
          </p:cNvPr>
          <p:cNvSpPr>
            <a:spLocks noGrp="1"/>
          </p:cNvSpPr>
          <p:nvPr/>
        </p:nvSpPr>
        <p:spPr>
          <a:xfrm>
            <a:off x="886968" y="1691640"/>
            <a:ext cx="685800" cy="685800"/>
          </a:xfrm>
          <a:prstGeom prst="ellipse">
            <a:avLst/>
          </a:prstGeom>
          <a:solidFill>
            <a:schemeClr val="accent2"/>
          </a:solidFill>
        </p:spPr>
      </p:sp>
      <p:pic>
        <p:nvPicPr>
          <p:cNvPr id="5" name="icone-3">
            <a:extLst>
              <a:ext uri="{FF2B5EF4-FFF2-40B4-BE49-F238E27FC236}">
                <a16:creationId xmlns:a16="http://schemas.microsoft.com/office/drawing/2014/main" id="{6E65D7FA-5C30-4C82-BEF3-DC6FDDB9E89B}"/>
              </a:ext>
            </a:extLst>
          </p:cNvPr>
          <p:cNvPicPr>
            <a:picLocks noChangeAspect="1"/>
          </p:cNvPicPr>
          <p:nvPr/>
        </p:nvPicPr>
        <p:blipFill>
          <a:blip r:embed="rId3"/>
          <a:stretch>
            <a:fillRect/>
          </a:stretch>
        </p:blipFill>
        <p:spPr>
          <a:xfrm>
            <a:off x="1072134" y="1876806"/>
            <a:ext cx="315468" cy="315468"/>
          </a:xfrm>
          <a:prstGeom prst="rect">
            <a:avLst/>
          </a:prstGeom>
        </p:spPr>
      </p:pic>
      <p:sp>
        <p:nvSpPr>
          <p:cNvPr id="6" name="texte-4">
            <a:extLst>
              <a:ext uri="{FF2B5EF4-FFF2-40B4-BE49-F238E27FC236}">
                <a16:creationId xmlns:a16="http://schemas.microsoft.com/office/drawing/2014/main" id="{0F079013-DE41-43D6-9D5B-A3060C11E21E}"/>
              </a:ext>
            </a:extLst>
          </p:cNvPr>
          <p:cNvSpPr>
            <a:spLocks noGrp="1"/>
          </p:cNvSpPr>
          <p:nvPr/>
        </p:nvSpPr>
        <p:spPr>
          <a:xfrm>
            <a:off x="1755648" y="1691640"/>
            <a:ext cx="2103120" cy="685800"/>
          </a:xfrm>
          <a:prstGeom prst="rect">
            <a:avLst/>
          </a:prstGeom>
          <a:noFill/>
        </p:spPr>
        <p:txBody>
          <a:bodyPr wrap="square" lIns="0" tIns="0" rIns="0" bIns="0" anchor="ctr"/>
          <a:lstStyle/>
          <a:p>
            <a:pPr marL="0" indent="0">
              <a:buNone/>
            </a:pPr>
            <a:r>
              <a:rPr sz="1900" b="1">
                <a:solidFill>
                  <a:schemeClr val="tx1"/>
                </a:solidFill>
              </a:rPr>
              <a:t>Pour qui ?</a:t>
            </a:r>
            <a:endParaRPr sz="1900"/>
          </a:p>
        </p:txBody>
      </p:sp>
      <p:sp>
        <p:nvSpPr>
          <p:cNvPr id="7" name="texte-5">
            <a:extLst>
              <a:ext uri="{FF2B5EF4-FFF2-40B4-BE49-F238E27FC236}">
                <a16:creationId xmlns:a16="http://schemas.microsoft.com/office/drawing/2014/main" id="{EB223839-D7D1-421C-B3B9-2671F6851740}"/>
              </a:ext>
            </a:extLst>
          </p:cNvPr>
          <p:cNvSpPr>
            <a:spLocks noGrp="1"/>
          </p:cNvSpPr>
          <p:nvPr/>
        </p:nvSpPr>
        <p:spPr>
          <a:xfrm>
            <a:off x="886968" y="2560320"/>
            <a:ext cx="2926080" cy="2286000"/>
          </a:xfrm>
          <a:prstGeom prst="rect">
            <a:avLst/>
          </a:prstGeom>
          <a:noFill/>
        </p:spPr>
        <p:txBody>
          <a:bodyPr wrap="square" lIns="0" tIns="0" rIns="0" bIns="0" anchor="t"/>
          <a:lstStyle/>
          <a:p>
            <a:pPr marL="0" indent="0">
              <a:buNone/>
            </a:pPr>
            <a:r>
              <a:rPr sz="1600" i="1" dirty="0" err="1">
                <a:solidFill>
                  <a:schemeClr val="accent5"/>
                </a:solidFill>
              </a:rPr>
              <a:t>L’administration</a:t>
            </a:r>
            <a:r>
              <a:rPr sz="1600" i="1" dirty="0">
                <a:solidFill>
                  <a:schemeClr val="accent5"/>
                </a:solidFill>
              </a:rPr>
              <a:t> et </a:t>
            </a:r>
            <a:r>
              <a:rPr sz="1600" i="1" dirty="0" err="1">
                <a:solidFill>
                  <a:schemeClr val="accent5"/>
                </a:solidFill>
              </a:rPr>
              <a:t>l’équipe</a:t>
            </a:r>
            <a:r>
              <a:rPr sz="1600" i="1" dirty="0">
                <a:solidFill>
                  <a:schemeClr val="accent5"/>
                </a:solidFill>
              </a:rPr>
              <a:t> </a:t>
            </a:r>
            <a:r>
              <a:rPr sz="1600" i="1" dirty="0" err="1">
                <a:solidFill>
                  <a:schemeClr val="accent5"/>
                </a:solidFill>
              </a:rPr>
              <a:t>pédagogique</a:t>
            </a:r>
            <a:r>
              <a:rPr sz="1600" i="1" dirty="0">
                <a:solidFill>
                  <a:schemeClr val="accent5"/>
                </a:solidFill>
              </a:rPr>
              <a:t> de la </a:t>
            </a:r>
            <a:r>
              <a:rPr sz="1600" i="1" dirty="0" err="1">
                <a:solidFill>
                  <a:schemeClr val="accent5"/>
                </a:solidFill>
              </a:rPr>
              <a:t>Medersa</a:t>
            </a:r>
            <a:r>
              <a:rPr sz="1600" i="1" dirty="0">
                <a:solidFill>
                  <a:schemeClr val="accent5"/>
                </a:solidFill>
              </a:rPr>
              <a:t> Franco-</a:t>
            </a:r>
            <a:r>
              <a:rPr sz="1600" i="1" dirty="0" err="1">
                <a:solidFill>
                  <a:schemeClr val="accent5"/>
                </a:solidFill>
              </a:rPr>
              <a:t>Arabe</a:t>
            </a:r>
            <a:r>
              <a:rPr sz="1600" i="1" dirty="0">
                <a:solidFill>
                  <a:schemeClr val="accent5"/>
                </a:solidFill>
              </a:rPr>
              <a:t> </a:t>
            </a:r>
            <a:r>
              <a:rPr sz="1600" i="1" dirty="0" err="1">
                <a:solidFill>
                  <a:schemeClr val="accent5"/>
                </a:solidFill>
              </a:rPr>
              <a:t>Sabiloul</a:t>
            </a:r>
            <a:r>
              <a:rPr sz="1600" i="1" dirty="0">
                <a:solidFill>
                  <a:schemeClr val="accent5"/>
                </a:solidFill>
              </a:rPr>
              <a:t> </a:t>
            </a:r>
            <a:r>
              <a:rPr sz="1600" i="1" dirty="0" err="1">
                <a:solidFill>
                  <a:schemeClr val="accent5"/>
                </a:solidFill>
              </a:rPr>
              <a:t>Houda</a:t>
            </a:r>
            <a:r>
              <a:rPr sz="1600" i="1" dirty="0">
                <a:solidFill>
                  <a:schemeClr val="accent5"/>
                </a:solidFill>
              </a:rPr>
              <a:t>.</a:t>
            </a:r>
            <a:endParaRPr sz="1600" dirty="0"/>
          </a:p>
        </p:txBody>
      </p:sp>
      <p:sp>
        <p:nvSpPr>
          <p:cNvPr id="8" name="carte-6">
            <a:extLst>
              <a:ext uri="{FF2B5EF4-FFF2-40B4-BE49-F238E27FC236}">
                <a16:creationId xmlns:a16="http://schemas.microsoft.com/office/drawing/2014/main" id="{A34505D2-05D9-40C6-9CFB-3E11782F5BF1}"/>
              </a:ext>
            </a:extLst>
          </p:cNvPr>
          <p:cNvSpPr>
            <a:spLocks noGrp="1"/>
          </p:cNvSpPr>
          <p:nvPr/>
        </p:nvSpPr>
        <p:spPr>
          <a:xfrm>
            <a:off x="4361688" y="1417320"/>
            <a:ext cx="3474720" cy="3566160"/>
          </a:xfrm>
          <a:prstGeom prst="roundRect">
            <a:avLst>
              <a:gd name="adj" fmla="val 3158"/>
            </a:avLst>
          </a:prstGeom>
          <a:solidFill>
            <a:schemeClr val="bg1"/>
          </a:solidFill>
          <a:ln w="9525">
            <a:solidFill>
              <a:srgbClr val="E3E6EE"/>
            </a:solidFill>
            <a:prstDash val="solid"/>
          </a:ln>
          <a:effectLst>
            <a:outerShdw blurRad="101600" dist="25400" dir="5400000" algn="bl" rotWithShape="0">
              <a:srgbClr val="000000">
                <a:alpha val="8000"/>
              </a:srgbClr>
            </a:outerShdw>
          </a:effectLst>
        </p:spPr>
      </p:sp>
      <p:sp>
        <p:nvSpPr>
          <p:cNvPr id="9" name="pastille-7">
            <a:extLst>
              <a:ext uri="{FF2B5EF4-FFF2-40B4-BE49-F238E27FC236}">
                <a16:creationId xmlns:a16="http://schemas.microsoft.com/office/drawing/2014/main" id="{58D2C70F-D59D-491D-8935-F8A498186976}"/>
              </a:ext>
            </a:extLst>
          </p:cNvPr>
          <p:cNvSpPr>
            <a:spLocks noGrp="1"/>
          </p:cNvSpPr>
          <p:nvPr/>
        </p:nvSpPr>
        <p:spPr>
          <a:xfrm>
            <a:off x="4636008" y="1691640"/>
            <a:ext cx="685800" cy="685800"/>
          </a:xfrm>
          <a:prstGeom prst="ellipse">
            <a:avLst/>
          </a:prstGeom>
          <a:solidFill>
            <a:schemeClr val="accent1"/>
          </a:solidFill>
        </p:spPr>
      </p:sp>
      <p:pic>
        <p:nvPicPr>
          <p:cNvPr id="10" name="icone-8">
            <a:extLst>
              <a:ext uri="{FF2B5EF4-FFF2-40B4-BE49-F238E27FC236}">
                <a16:creationId xmlns:a16="http://schemas.microsoft.com/office/drawing/2014/main" id="{D9E3E734-E87E-4575-A99A-D9849C8DC85B}"/>
              </a:ext>
            </a:extLst>
          </p:cNvPr>
          <p:cNvPicPr>
            <a:picLocks noChangeAspect="1"/>
          </p:cNvPicPr>
          <p:nvPr/>
        </p:nvPicPr>
        <p:blipFill>
          <a:blip r:embed="rId4"/>
          <a:stretch>
            <a:fillRect/>
          </a:stretch>
        </p:blipFill>
        <p:spPr>
          <a:xfrm>
            <a:off x="4821174" y="1876806"/>
            <a:ext cx="315468" cy="315468"/>
          </a:xfrm>
          <a:prstGeom prst="rect">
            <a:avLst/>
          </a:prstGeom>
        </p:spPr>
      </p:pic>
      <p:sp>
        <p:nvSpPr>
          <p:cNvPr id="11" name="texte-9">
            <a:extLst>
              <a:ext uri="{FF2B5EF4-FFF2-40B4-BE49-F238E27FC236}">
                <a16:creationId xmlns:a16="http://schemas.microsoft.com/office/drawing/2014/main" id="{32A1AD22-0881-467E-B08D-32BD9BDE555A}"/>
              </a:ext>
            </a:extLst>
          </p:cNvPr>
          <p:cNvSpPr>
            <a:spLocks noGrp="1"/>
          </p:cNvSpPr>
          <p:nvPr/>
        </p:nvSpPr>
        <p:spPr>
          <a:xfrm>
            <a:off x="5504688" y="1691640"/>
            <a:ext cx="2103120" cy="685800"/>
          </a:xfrm>
          <a:prstGeom prst="rect">
            <a:avLst/>
          </a:prstGeom>
          <a:noFill/>
        </p:spPr>
        <p:txBody>
          <a:bodyPr wrap="square" lIns="0" tIns="0" rIns="0" bIns="0" anchor="ctr"/>
          <a:lstStyle/>
          <a:p>
            <a:pPr marL="0" indent="0">
              <a:buNone/>
            </a:pPr>
            <a:r>
              <a:rPr sz="1900" b="1">
                <a:solidFill>
                  <a:schemeClr val="tx1"/>
                </a:solidFill>
              </a:rPr>
              <a:t>Quel problème ?</a:t>
            </a:r>
            <a:endParaRPr sz="1900"/>
          </a:p>
        </p:txBody>
      </p:sp>
      <p:sp>
        <p:nvSpPr>
          <p:cNvPr id="12" name="texte-10">
            <a:extLst>
              <a:ext uri="{FF2B5EF4-FFF2-40B4-BE49-F238E27FC236}">
                <a16:creationId xmlns:a16="http://schemas.microsoft.com/office/drawing/2014/main" id="{4D5C12FD-DC91-4593-B5BF-1A0916FA27FD}"/>
              </a:ext>
            </a:extLst>
          </p:cNvPr>
          <p:cNvSpPr>
            <a:spLocks noGrp="1"/>
          </p:cNvSpPr>
          <p:nvPr/>
        </p:nvSpPr>
        <p:spPr>
          <a:xfrm>
            <a:off x="4636008" y="2560320"/>
            <a:ext cx="2926080" cy="2286000"/>
          </a:xfrm>
          <a:prstGeom prst="rect">
            <a:avLst/>
          </a:prstGeom>
          <a:noFill/>
        </p:spPr>
        <p:txBody>
          <a:bodyPr wrap="square" lIns="0" tIns="0" rIns="0" bIns="0" anchor="t"/>
          <a:lstStyle/>
          <a:p>
            <a:pPr marL="0" indent="0">
              <a:buNone/>
            </a:pPr>
            <a:r>
              <a:rPr sz="1600" i="1">
                <a:solidFill>
                  <a:schemeClr val="accent5"/>
                </a:solidFill>
              </a:rPr>
              <a:t>Centraliser les dossiers scolaires et suivre plus facilement les notes, présences et paiements.</a:t>
            </a:r>
            <a:endParaRPr sz="1600"/>
          </a:p>
        </p:txBody>
      </p:sp>
      <p:sp>
        <p:nvSpPr>
          <p:cNvPr id="13" name="carte-11">
            <a:extLst>
              <a:ext uri="{FF2B5EF4-FFF2-40B4-BE49-F238E27FC236}">
                <a16:creationId xmlns:a16="http://schemas.microsoft.com/office/drawing/2014/main" id="{8C6B54FB-9881-4DE6-950C-CEF7F6E38D92}"/>
              </a:ext>
            </a:extLst>
          </p:cNvPr>
          <p:cNvSpPr>
            <a:spLocks noGrp="1"/>
          </p:cNvSpPr>
          <p:nvPr/>
        </p:nvSpPr>
        <p:spPr>
          <a:xfrm>
            <a:off x="8110728" y="1417320"/>
            <a:ext cx="3474720" cy="3566160"/>
          </a:xfrm>
          <a:prstGeom prst="roundRect">
            <a:avLst>
              <a:gd name="adj" fmla="val 3158"/>
            </a:avLst>
          </a:prstGeom>
          <a:solidFill>
            <a:schemeClr val="bg1"/>
          </a:solidFill>
          <a:ln w="9525">
            <a:solidFill>
              <a:srgbClr val="E3E6EE"/>
            </a:solidFill>
            <a:prstDash val="solid"/>
          </a:ln>
          <a:effectLst>
            <a:outerShdw blurRad="101600" dist="25400" dir="5400000" algn="bl" rotWithShape="0">
              <a:srgbClr val="000000">
                <a:alpha val="8000"/>
              </a:srgbClr>
            </a:outerShdw>
          </a:effectLst>
        </p:spPr>
      </p:sp>
      <p:sp>
        <p:nvSpPr>
          <p:cNvPr id="14" name="pastille-12">
            <a:extLst>
              <a:ext uri="{FF2B5EF4-FFF2-40B4-BE49-F238E27FC236}">
                <a16:creationId xmlns:a16="http://schemas.microsoft.com/office/drawing/2014/main" id="{AA60E283-0860-4374-BE09-D76362E7FBDC}"/>
              </a:ext>
            </a:extLst>
          </p:cNvPr>
          <p:cNvSpPr>
            <a:spLocks noGrp="1"/>
          </p:cNvSpPr>
          <p:nvPr/>
        </p:nvSpPr>
        <p:spPr>
          <a:xfrm>
            <a:off x="8385048" y="1691640"/>
            <a:ext cx="685800" cy="685800"/>
          </a:xfrm>
          <a:prstGeom prst="ellipse">
            <a:avLst/>
          </a:prstGeom>
          <a:solidFill>
            <a:schemeClr val="accent3"/>
          </a:solidFill>
        </p:spPr>
      </p:sp>
      <p:pic>
        <p:nvPicPr>
          <p:cNvPr id="15" name="icone-13">
            <a:extLst>
              <a:ext uri="{FF2B5EF4-FFF2-40B4-BE49-F238E27FC236}">
                <a16:creationId xmlns:a16="http://schemas.microsoft.com/office/drawing/2014/main" id="{2E7B3235-B1B8-4AA2-A436-9438FB0242F9}"/>
              </a:ext>
            </a:extLst>
          </p:cNvPr>
          <p:cNvPicPr>
            <a:picLocks noChangeAspect="1"/>
          </p:cNvPicPr>
          <p:nvPr/>
        </p:nvPicPr>
        <p:blipFill>
          <a:blip r:embed="rId5"/>
          <a:stretch>
            <a:fillRect/>
          </a:stretch>
        </p:blipFill>
        <p:spPr>
          <a:xfrm>
            <a:off x="8570214" y="1876806"/>
            <a:ext cx="315468" cy="315468"/>
          </a:xfrm>
          <a:prstGeom prst="rect">
            <a:avLst/>
          </a:prstGeom>
        </p:spPr>
      </p:pic>
      <p:sp>
        <p:nvSpPr>
          <p:cNvPr id="16" name="texte-14">
            <a:extLst>
              <a:ext uri="{FF2B5EF4-FFF2-40B4-BE49-F238E27FC236}">
                <a16:creationId xmlns:a16="http://schemas.microsoft.com/office/drawing/2014/main" id="{5F6C8047-3DFC-4B94-9F4D-87B9051D10DF}"/>
              </a:ext>
            </a:extLst>
          </p:cNvPr>
          <p:cNvSpPr>
            <a:spLocks noGrp="1"/>
          </p:cNvSpPr>
          <p:nvPr/>
        </p:nvSpPr>
        <p:spPr>
          <a:xfrm>
            <a:off x="9253728" y="1691640"/>
            <a:ext cx="2103120" cy="685800"/>
          </a:xfrm>
          <a:prstGeom prst="rect">
            <a:avLst/>
          </a:prstGeom>
          <a:noFill/>
        </p:spPr>
        <p:txBody>
          <a:bodyPr wrap="square" lIns="0" tIns="0" rIns="0" bIns="0" anchor="ctr"/>
          <a:lstStyle/>
          <a:p>
            <a:pPr marL="0" indent="0">
              <a:buNone/>
            </a:pPr>
            <a:r>
              <a:rPr sz="1900" b="1">
                <a:solidFill>
                  <a:schemeClr val="tx1"/>
                </a:solidFill>
              </a:rPr>
              <a:t>Ce que fait l’application</a:t>
            </a:r>
            <a:endParaRPr sz="1900"/>
          </a:p>
        </p:txBody>
      </p:sp>
      <p:sp>
        <p:nvSpPr>
          <p:cNvPr id="17" name="texte-15">
            <a:extLst>
              <a:ext uri="{FF2B5EF4-FFF2-40B4-BE49-F238E27FC236}">
                <a16:creationId xmlns:a16="http://schemas.microsoft.com/office/drawing/2014/main" id="{56721F2A-0C4C-4829-9096-8F2128630E46}"/>
              </a:ext>
            </a:extLst>
          </p:cNvPr>
          <p:cNvSpPr>
            <a:spLocks noGrp="1"/>
          </p:cNvSpPr>
          <p:nvPr/>
        </p:nvSpPr>
        <p:spPr>
          <a:xfrm>
            <a:off x="8385048" y="2560320"/>
            <a:ext cx="2926080" cy="2286000"/>
          </a:xfrm>
          <a:prstGeom prst="rect">
            <a:avLst/>
          </a:prstGeom>
          <a:noFill/>
        </p:spPr>
        <p:txBody>
          <a:bodyPr wrap="square" lIns="0" tIns="0" rIns="0" bIns="0" anchor="t"/>
          <a:lstStyle/>
          <a:p>
            <a:pPr marL="0" indent="0">
              <a:buNone/>
            </a:pPr>
            <a:r>
              <a:rPr sz="1600" i="1">
                <a:solidFill>
                  <a:schemeClr val="accent5"/>
                </a:solidFill>
              </a:rPr>
              <a:t>1. Gérer les élèves, classes et matières</a:t>
            </a:r>
            <a:endParaRPr sz="1600"/>
          </a:p>
          <a:p>
            <a:pPr marL="0" indent="0">
              <a:buNone/>
            </a:pPr>
            <a:r>
              <a:rPr sz="1600" i="1">
                <a:solidFill>
                  <a:schemeClr val="accent5"/>
                </a:solidFill>
              </a:rPr>
              <a:t>2. Enregistrer notes, présences, frais et paiements</a:t>
            </a:r>
            <a:endParaRPr sz="1600"/>
          </a:p>
          <a:p>
            <a:pPr marL="0" indent="0">
              <a:buNone/>
            </a:pPr>
            <a:r>
              <a:rPr sz="1600" i="1">
                <a:solidFill>
                  <a:schemeClr val="accent5"/>
                </a:solidFill>
              </a:rPr>
              <a:t>3. Produire rapports, reçus et bulletins individuels</a:t>
            </a:r>
            <a:endParaRPr sz="1600"/>
          </a:p>
        </p:txBody>
      </p:sp>
      <p:sp>
        <p:nvSpPr>
          <p:cNvPr id="18" name="texte-16">
            <a:extLst>
              <a:ext uri="{FF2B5EF4-FFF2-40B4-BE49-F238E27FC236}">
                <a16:creationId xmlns:a16="http://schemas.microsoft.com/office/drawing/2014/main" id="{076A30D2-7F7A-4C90-AA01-42DB11937B46}"/>
              </a:ext>
            </a:extLst>
          </p:cNvPr>
          <p:cNvSpPr>
            <a:spLocks noGrp="1"/>
          </p:cNvSpPr>
          <p:nvPr/>
        </p:nvSpPr>
        <p:spPr>
          <a:xfrm>
            <a:off x="612648" y="5257800"/>
            <a:ext cx="10972800" cy="548640"/>
          </a:xfrm>
          <a:prstGeom prst="rect">
            <a:avLst/>
          </a:prstGeom>
          <a:noFill/>
        </p:spPr>
        <p:txBody>
          <a:bodyPr wrap="square" lIns="0" tIns="0" rIns="0" bIns="0" anchor="t"/>
          <a:lstStyle/>
          <a:p>
            <a:pPr marL="0" indent="0">
              <a:buNone/>
            </a:pPr>
            <a:r>
              <a:rPr sz="1800" i="1">
                <a:solidFill>
                  <a:schemeClr val="accent5"/>
                </a:solidFill>
              </a:rPr>
              <a:t>Notre application aide l’établissement à suivre la scolarité et la caisse dans un seul logiciel hors ligne.</a:t>
            </a:r>
            <a:endParaRPr sz="1800"/>
          </a:p>
        </p:txBody>
      </p:sp>
      <p:sp>
        <p:nvSpPr>
          <p:cNvPr id="25" name="Slide Number Placeholder 0">
            <a:extLst>
              <a:ext uri="{FF2B5EF4-FFF2-40B4-BE49-F238E27FC236}">
                <a16:creationId xmlns:a16="http://schemas.microsoft.com/office/drawing/2014/main" id="{710CC64E-D459-4357-92EF-EFC16ABA5716}"/>
              </a:ext>
            </a:extLst>
          </p:cNvPr>
          <p:cNvSpPr>
            <a:spLocks noGrp="1"/>
          </p:cNvSpPr>
          <p:nvPr>
            <p:ph type="sldNum" idx="4294967295"/>
          </p:nvPr>
        </p:nvSpPr>
        <p:spPr>
          <a:xfrm>
            <a:off x="11109960" y="6382512"/>
            <a:ext cx="457200" cy="274320"/>
          </a:xfrm>
          <a:prstGeom prst="rect">
            <a:avLst/>
          </a:prstGeom>
        </p:spPr>
        <p:txBody>
          <a:bodyPr/>
          <a:lstStyle>
            <a:lvl1pPr>
              <a:buNone/>
              <a:defRPr sz="1000">
                <a:solidFill>
                  <a:schemeClr val="accent6"/>
                </a:solidFill>
              </a:defRPr>
            </a:lvl1pPr>
          </a:lstStyle>
          <a:p>
            <a:pPr algn="r">
              <a:buNone/>
            </a:pPr>
            <a:fld id="{F7021451-1387-4CA6-816F-3879F97B5CBC}" type="slidenum">
              <a:rPr b="0"/>
              <a:t>2</a:t>
            </a:fld>
            <a:endParaRPr/>
          </a:p>
        </p:txBody>
      </p:sp>
    </p:spTree>
    <p:extLst>
      <p:ext uri="{BB962C8B-B14F-4D97-AF65-F5344CB8AC3E}">
        <p14:creationId xmlns:p14="http://schemas.microsoft.com/office/powerpoint/2010/main" val="1509664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81171E-F64C-4C7F-B895-B52AB336B424}"/>
              </a:ext>
            </a:extLst>
          </p:cNvPr>
          <p:cNvSpPr>
            <a:spLocks noGrp="1"/>
          </p:cNvSpPr>
          <p:nvPr>
            <p:ph type="title" idx="100" hasCustomPrompt="1"/>
          </p:nvPr>
        </p:nvSpPr>
        <p:spPr>
          <a:xfrm>
            <a:off x="612648" y="384048"/>
            <a:ext cx="10972800" cy="777240"/>
          </a:xfrm>
          <a:prstGeom prst="rect">
            <a:avLst/>
          </a:prstGeom>
          <a:noFill/>
        </p:spPr>
        <p:txBody>
          <a:bodyPr wrap="square" lIns="0" tIns="0" rIns="0" bIns="0" anchor="ctr"/>
          <a:lstStyle/>
          <a:p>
            <a:pPr marL="0" indent="0" algn="l">
              <a:buNone/>
            </a:pPr>
            <a:r>
              <a:rPr sz="3400" b="1">
                <a:solidFill>
                  <a:schemeClr val="tx1"/>
                </a:solidFill>
              </a:rPr>
              <a:t>Comment c’est construit</a:t>
            </a:r>
            <a:endParaRPr sz="3400"/>
          </a:p>
        </p:txBody>
      </p:sp>
      <p:sp>
        <p:nvSpPr>
          <p:cNvPr id="3" name="carte-17">
            <a:extLst>
              <a:ext uri="{FF2B5EF4-FFF2-40B4-BE49-F238E27FC236}">
                <a16:creationId xmlns:a16="http://schemas.microsoft.com/office/drawing/2014/main" id="{D77560C6-1025-4167-BF30-26DA95E8BAA3}"/>
              </a:ext>
            </a:extLst>
          </p:cNvPr>
          <p:cNvSpPr>
            <a:spLocks noGrp="1"/>
          </p:cNvSpPr>
          <p:nvPr/>
        </p:nvSpPr>
        <p:spPr>
          <a:xfrm>
            <a:off x="612648" y="1463040"/>
            <a:ext cx="3108960" cy="3017520"/>
          </a:xfrm>
          <a:prstGeom prst="roundRect">
            <a:avLst>
              <a:gd name="adj" fmla="val 3636"/>
            </a:avLst>
          </a:prstGeom>
          <a:solidFill>
            <a:schemeClr val="bg1"/>
          </a:solidFill>
          <a:ln w="9525">
            <a:solidFill>
              <a:srgbClr val="E3E6EE"/>
            </a:solidFill>
            <a:prstDash val="solid"/>
          </a:ln>
          <a:effectLst>
            <a:outerShdw blurRad="101600" dist="25400" dir="5400000" algn="bl" rotWithShape="0">
              <a:srgbClr val="000000">
                <a:alpha val="8000"/>
              </a:srgbClr>
            </a:outerShdw>
          </a:effectLst>
        </p:spPr>
      </p:sp>
      <p:sp>
        <p:nvSpPr>
          <p:cNvPr id="4" name="pastille-18">
            <a:extLst>
              <a:ext uri="{FF2B5EF4-FFF2-40B4-BE49-F238E27FC236}">
                <a16:creationId xmlns:a16="http://schemas.microsoft.com/office/drawing/2014/main" id="{39B4F26C-447C-4114-8ACD-20F332DE8B13}"/>
              </a:ext>
            </a:extLst>
          </p:cNvPr>
          <p:cNvSpPr>
            <a:spLocks noGrp="1"/>
          </p:cNvSpPr>
          <p:nvPr/>
        </p:nvSpPr>
        <p:spPr>
          <a:xfrm>
            <a:off x="1709928" y="1737360"/>
            <a:ext cx="914400" cy="914400"/>
          </a:xfrm>
          <a:prstGeom prst="ellipse">
            <a:avLst/>
          </a:prstGeom>
          <a:solidFill>
            <a:schemeClr val="accent2"/>
          </a:solidFill>
        </p:spPr>
      </p:sp>
      <p:pic>
        <p:nvPicPr>
          <p:cNvPr id="5" name="icone-19">
            <a:extLst>
              <a:ext uri="{FF2B5EF4-FFF2-40B4-BE49-F238E27FC236}">
                <a16:creationId xmlns:a16="http://schemas.microsoft.com/office/drawing/2014/main" id="{ABC5FADD-7A2D-4050-804E-5C4C192ED5E0}"/>
              </a:ext>
            </a:extLst>
          </p:cNvPr>
          <p:cNvPicPr>
            <a:picLocks noChangeAspect="1"/>
          </p:cNvPicPr>
          <p:nvPr/>
        </p:nvPicPr>
        <p:blipFill>
          <a:blip r:embed="rId3"/>
          <a:stretch>
            <a:fillRect/>
          </a:stretch>
        </p:blipFill>
        <p:spPr>
          <a:xfrm>
            <a:off x="1956816" y="1984248"/>
            <a:ext cx="420624" cy="420624"/>
          </a:xfrm>
          <a:prstGeom prst="rect">
            <a:avLst/>
          </a:prstGeom>
        </p:spPr>
      </p:pic>
      <p:sp>
        <p:nvSpPr>
          <p:cNvPr id="6" name="texte-20">
            <a:extLst>
              <a:ext uri="{FF2B5EF4-FFF2-40B4-BE49-F238E27FC236}">
                <a16:creationId xmlns:a16="http://schemas.microsoft.com/office/drawing/2014/main" id="{B7D6A7A8-D255-45BA-9263-90E33699B1A6}"/>
              </a:ext>
            </a:extLst>
          </p:cNvPr>
          <p:cNvSpPr>
            <a:spLocks noGrp="1"/>
          </p:cNvSpPr>
          <p:nvPr/>
        </p:nvSpPr>
        <p:spPr>
          <a:xfrm>
            <a:off x="795528" y="2788920"/>
            <a:ext cx="2743200" cy="457200"/>
          </a:xfrm>
          <a:prstGeom prst="rect">
            <a:avLst/>
          </a:prstGeom>
          <a:noFill/>
        </p:spPr>
        <p:txBody>
          <a:bodyPr wrap="square" lIns="0" tIns="0" rIns="0" bIns="0" anchor="t"/>
          <a:lstStyle/>
          <a:p>
            <a:pPr marL="0" indent="0" algn="ctr">
              <a:buNone/>
            </a:pPr>
            <a:r>
              <a:rPr sz="2000" b="1">
                <a:solidFill>
                  <a:schemeClr val="tx1"/>
                </a:solidFill>
              </a:rPr>
              <a:t>Interface</a:t>
            </a:r>
            <a:endParaRPr sz="2000"/>
          </a:p>
        </p:txBody>
      </p:sp>
      <p:sp>
        <p:nvSpPr>
          <p:cNvPr id="7" name="texte-21">
            <a:extLst>
              <a:ext uri="{FF2B5EF4-FFF2-40B4-BE49-F238E27FC236}">
                <a16:creationId xmlns:a16="http://schemas.microsoft.com/office/drawing/2014/main" id="{590A6027-81DD-4AAC-B2A8-D11151F82085}"/>
              </a:ext>
            </a:extLst>
          </p:cNvPr>
          <p:cNvSpPr>
            <a:spLocks noGrp="1"/>
          </p:cNvSpPr>
          <p:nvPr/>
        </p:nvSpPr>
        <p:spPr>
          <a:xfrm>
            <a:off x="841248" y="3291840"/>
            <a:ext cx="2651760" cy="1097280"/>
          </a:xfrm>
          <a:prstGeom prst="rect">
            <a:avLst/>
          </a:prstGeom>
          <a:noFill/>
        </p:spPr>
        <p:txBody>
          <a:bodyPr wrap="square" lIns="0" tIns="0" rIns="0" bIns="0" anchor="t"/>
          <a:lstStyle/>
          <a:p>
            <a:pPr marL="0" indent="0" algn="ctr">
              <a:buNone/>
            </a:pPr>
            <a:r>
              <a:rPr sz="1500" i="1" dirty="0" err="1">
                <a:solidFill>
                  <a:schemeClr val="accent5"/>
                </a:solidFill>
              </a:rPr>
              <a:t>Fenêtres</a:t>
            </a:r>
            <a:r>
              <a:rPr sz="1500" i="1" dirty="0">
                <a:solidFill>
                  <a:schemeClr val="accent5"/>
                </a:solidFill>
              </a:rPr>
              <a:t> </a:t>
            </a:r>
            <a:r>
              <a:rPr sz="1500" i="1" dirty="0" err="1">
                <a:solidFill>
                  <a:schemeClr val="accent5"/>
                </a:solidFill>
              </a:rPr>
              <a:t>Tkinter</a:t>
            </a:r>
            <a:r>
              <a:rPr sz="1500" i="1" dirty="0">
                <a:solidFill>
                  <a:schemeClr val="accent5"/>
                </a:solidFill>
              </a:rPr>
              <a:t> pour Windows. </a:t>
            </a:r>
            <a:r>
              <a:rPr sz="1500" i="1" dirty="0" err="1">
                <a:solidFill>
                  <a:schemeClr val="accent5"/>
                </a:solidFill>
              </a:rPr>
              <a:t>Utilisation</a:t>
            </a:r>
            <a:r>
              <a:rPr sz="1500" i="1" dirty="0">
                <a:solidFill>
                  <a:schemeClr val="accent5"/>
                </a:solidFill>
              </a:rPr>
              <a:t> hors </a:t>
            </a:r>
            <a:r>
              <a:rPr sz="1500" i="1" dirty="0" err="1">
                <a:solidFill>
                  <a:schemeClr val="accent5"/>
                </a:solidFill>
              </a:rPr>
              <a:t>ligne</a:t>
            </a:r>
            <a:r>
              <a:rPr sz="1500" i="1" dirty="0">
                <a:solidFill>
                  <a:schemeClr val="accent5"/>
                </a:solidFill>
              </a:rPr>
              <a:t>.</a:t>
            </a:r>
            <a:endParaRPr sz="1500" dirty="0"/>
          </a:p>
        </p:txBody>
      </p:sp>
      <p:sp>
        <p:nvSpPr>
          <p:cNvPr id="8" name="fleche-22">
            <a:extLst>
              <a:ext uri="{FF2B5EF4-FFF2-40B4-BE49-F238E27FC236}">
                <a16:creationId xmlns:a16="http://schemas.microsoft.com/office/drawing/2014/main" id="{FFBCA40B-4EA1-4B6C-B1DC-F3C72B993A46}"/>
              </a:ext>
            </a:extLst>
          </p:cNvPr>
          <p:cNvSpPr>
            <a:spLocks noGrp="1"/>
          </p:cNvSpPr>
          <p:nvPr/>
        </p:nvSpPr>
        <p:spPr>
          <a:xfrm>
            <a:off x="3831336" y="2788920"/>
            <a:ext cx="603504" cy="365760"/>
          </a:xfrm>
          <a:prstGeom prst="rightArrow">
            <a:avLst/>
          </a:prstGeom>
          <a:solidFill>
            <a:schemeClr val="accent5"/>
          </a:solidFill>
        </p:spPr>
      </p:sp>
      <p:sp>
        <p:nvSpPr>
          <p:cNvPr id="9" name="carte-23">
            <a:extLst>
              <a:ext uri="{FF2B5EF4-FFF2-40B4-BE49-F238E27FC236}">
                <a16:creationId xmlns:a16="http://schemas.microsoft.com/office/drawing/2014/main" id="{2A1047AD-38AE-455A-8F20-CB13F0B2E119}"/>
              </a:ext>
            </a:extLst>
          </p:cNvPr>
          <p:cNvSpPr>
            <a:spLocks noGrp="1"/>
          </p:cNvSpPr>
          <p:nvPr/>
        </p:nvSpPr>
        <p:spPr>
          <a:xfrm>
            <a:off x="4544568" y="1463040"/>
            <a:ext cx="3108960" cy="3017520"/>
          </a:xfrm>
          <a:prstGeom prst="roundRect">
            <a:avLst>
              <a:gd name="adj" fmla="val 3636"/>
            </a:avLst>
          </a:prstGeom>
          <a:solidFill>
            <a:schemeClr val="bg1"/>
          </a:solidFill>
          <a:ln w="9525">
            <a:solidFill>
              <a:srgbClr val="E3E6EE"/>
            </a:solidFill>
            <a:prstDash val="solid"/>
          </a:ln>
          <a:effectLst>
            <a:outerShdw blurRad="101600" dist="25400" dir="5400000" algn="bl" rotWithShape="0">
              <a:srgbClr val="000000">
                <a:alpha val="8000"/>
              </a:srgbClr>
            </a:outerShdw>
          </a:effectLst>
        </p:spPr>
      </p:sp>
      <p:sp>
        <p:nvSpPr>
          <p:cNvPr id="10" name="pastille-24">
            <a:extLst>
              <a:ext uri="{FF2B5EF4-FFF2-40B4-BE49-F238E27FC236}">
                <a16:creationId xmlns:a16="http://schemas.microsoft.com/office/drawing/2014/main" id="{6A38AB2A-068B-44CA-9149-8115D5A44BF5}"/>
              </a:ext>
            </a:extLst>
          </p:cNvPr>
          <p:cNvSpPr>
            <a:spLocks noGrp="1"/>
          </p:cNvSpPr>
          <p:nvPr/>
        </p:nvSpPr>
        <p:spPr>
          <a:xfrm>
            <a:off x="5641848" y="1737360"/>
            <a:ext cx="914400" cy="914400"/>
          </a:xfrm>
          <a:prstGeom prst="ellipse">
            <a:avLst/>
          </a:prstGeom>
          <a:solidFill>
            <a:schemeClr val="accent1"/>
          </a:solidFill>
        </p:spPr>
      </p:sp>
      <p:pic>
        <p:nvPicPr>
          <p:cNvPr id="11" name="icone-25">
            <a:extLst>
              <a:ext uri="{FF2B5EF4-FFF2-40B4-BE49-F238E27FC236}">
                <a16:creationId xmlns:a16="http://schemas.microsoft.com/office/drawing/2014/main" id="{99F11C08-5CEA-4516-811E-4E67097B5775}"/>
              </a:ext>
            </a:extLst>
          </p:cNvPr>
          <p:cNvPicPr>
            <a:picLocks noChangeAspect="1"/>
          </p:cNvPicPr>
          <p:nvPr/>
        </p:nvPicPr>
        <p:blipFill>
          <a:blip r:embed="rId4"/>
          <a:stretch>
            <a:fillRect/>
          </a:stretch>
        </p:blipFill>
        <p:spPr>
          <a:xfrm>
            <a:off x="5888736" y="1984248"/>
            <a:ext cx="420624" cy="420624"/>
          </a:xfrm>
          <a:prstGeom prst="rect">
            <a:avLst/>
          </a:prstGeom>
        </p:spPr>
      </p:pic>
      <p:sp>
        <p:nvSpPr>
          <p:cNvPr id="12" name="texte-26">
            <a:extLst>
              <a:ext uri="{FF2B5EF4-FFF2-40B4-BE49-F238E27FC236}">
                <a16:creationId xmlns:a16="http://schemas.microsoft.com/office/drawing/2014/main" id="{CF7164EE-6224-4BA7-B430-FBF09193DE56}"/>
              </a:ext>
            </a:extLst>
          </p:cNvPr>
          <p:cNvSpPr>
            <a:spLocks noGrp="1"/>
          </p:cNvSpPr>
          <p:nvPr/>
        </p:nvSpPr>
        <p:spPr>
          <a:xfrm>
            <a:off x="4727448" y="2788920"/>
            <a:ext cx="2743200" cy="457200"/>
          </a:xfrm>
          <a:prstGeom prst="rect">
            <a:avLst/>
          </a:prstGeom>
          <a:noFill/>
        </p:spPr>
        <p:txBody>
          <a:bodyPr wrap="square" lIns="0" tIns="0" rIns="0" bIns="0" anchor="t"/>
          <a:lstStyle/>
          <a:p>
            <a:pPr marL="0" indent="0" algn="ctr">
              <a:buNone/>
            </a:pPr>
            <a:r>
              <a:rPr sz="2000" b="1">
                <a:solidFill>
                  <a:schemeClr val="tx1"/>
                </a:solidFill>
              </a:rPr>
              <a:t>Programme</a:t>
            </a:r>
            <a:endParaRPr sz="2000"/>
          </a:p>
        </p:txBody>
      </p:sp>
      <p:sp>
        <p:nvSpPr>
          <p:cNvPr id="13" name="texte-27">
            <a:extLst>
              <a:ext uri="{FF2B5EF4-FFF2-40B4-BE49-F238E27FC236}">
                <a16:creationId xmlns:a16="http://schemas.microsoft.com/office/drawing/2014/main" id="{889E1745-FB5D-4FD1-A557-2CFD42F3D0C0}"/>
              </a:ext>
            </a:extLst>
          </p:cNvPr>
          <p:cNvSpPr>
            <a:spLocks noGrp="1"/>
          </p:cNvSpPr>
          <p:nvPr/>
        </p:nvSpPr>
        <p:spPr>
          <a:xfrm>
            <a:off x="4773168" y="3291840"/>
            <a:ext cx="2651760" cy="1097280"/>
          </a:xfrm>
          <a:prstGeom prst="rect">
            <a:avLst/>
          </a:prstGeom>
          <a:noFill/>
        </p:spPr>
        <p:txBody>
          <a:bodyPr wrap="square" lIns="0" tIns="0" rIns="0" bIns="0" anchor="t"/>
          <a:lstStyle/>
          <a:p>
            <a:pPr marL="0" indent="0" algn="ctr">
              <a:buNone/>
            </a:pPr>
            <a:r>
              <a:rPr sz="1500" i="1">
                <a:solidFill>
                  <a:schemeClr val="accent5"/>
                </a:solidFill>
              </a:rPr>
              <a:t>Python : interface et fonctions réunies dans main.py.</a:t>
            </a:r>
            <a:endParaRPr sz="1500"/>
          </a:p>
        </p:txBody>
      </p:sp>
      <p:sp>
        <p:nvSpPr>
          <p:cNvPr id="14" name="fleche-28">
            <a:extLst>
              <a:ext uri="{FF2B5EF4-FFF2-40B4-BE49-F238E27FC236}">
                <a16:creationId xmlns:a16="http://schemas.microsoft.com/office/drawing/2014/main" id="{11DB14A3-38D9-4C4A-B49D-CF75BB5F842E}"/>
              </a:ext>
            </a:extLst>
          </p:cNvPr>
          <p:cNvSpPr>
            <a:spLocks noGrp="1"/>
          </p:cNvSpPr>
          <p:nvPr/>
        </p:nvSpPr>
        <p:spPr>
          <a:xfrm>
            <a:off x="7763256" y="2788920"/>
            <a:ext cx="603504" cy="365760"/>
          </a:xfrm>
          <a:prstGeom prst="rightArrow">
            <a:avLst/>
          </a:prstGeom>
          <a:solidFill>
            <a:schemeClr val="accent5"/>
          </a:solidFill>
        </p:spPr>
      </p:sp>
      <p:sp>
        <p:nvSpPr>
          <p:cNvPr id="15" name="carte-29">
            <a:extLst>
              <a:ext uri="{FF2B5EF4-FFF2-40B4-BE49-F238E27FC236}">
                <a16:creationId xmlns:a16="http://schemas.microsoft.com/office/drawing/2014/main" id="{791DFFCF-42FF-4F38-A3C4-1CD8DA8E5662}"/>
              </a:ext>
            </a:extLst>
          </p:cNvPr>
          <p:cNvSpPr>
            <a:spLocks noGrp="1"/>
          </p:cNvSpPr>
          <p:nvPr/>
        </p:nvSpPr>
        <p:spPr>
          <a:xfrm>
            <a:off x="8476488" y="1463040"/>
            <a:ext cx="3108960" cy="3017520"/>
          </a:xfrm>
          <a:prstGeom prst="roundRect">
            <a:avLst>
              <a:gd name="adj" fmla="val 3636"/>
            </a:avLst>
          </a:prstGeom>
          <a:solidFill>
            <a:schemeClr val="bg1"/>
          </a:solidFill>
          <a:ln w="9525">
            <a:solidFill>
              <a:srgbClr val="E3E6EE"/>
            </a:solidFill>
            <a:prstDash val="solid"/>
          </a:ln>
          <a:effectLst>
            <a:outerShdw blurRad="101600" dist="25400" dir="5400000" algn="bl" rotWithShape="0">
              <a:srgbClr val="000000">
                <a:alpha val="8000"/>
              </a:srgbClr>
            </a:outerShdw>
          </a:effectLst>
        </p:spPr>
      </p:sp>
      <p:sp>
        <p:nvSpPr>
          <p:cNvPr id="16" name="pastille-30">
            <a:extLst>
              <a:ext uri="{FF2B5EF4-FFF2-40B4-BE49-F238E27FC236}">
                <a16:creationId xmlns:a16="http://schemas.microsoft.com/office/drawing/2014/main" id="{40CA39F5-0D79-4084-9FEF-5DEC8304D208}"/>
              </a:ext>
            </a:extLst>
          </p:cNvPr>
          <p:cNvSpPr>
            <a:spLocks noGrp="1"/>
          </p:cNvSpPr>
          <p:nvPr/>
        </p:nvSpPr>
        <p:spPr>
          <a:xfrm>
            <a:off x="9573768" y="1737360"/>
            <a:ext cx="914400" cy="914400"/>
          </a:xfrm>
          <a:prstGeom prst="ellipse">
            <a:avLst/>
          </a:prstGeom>
          <a:solidFill>
            <a:schemeClr val="tx2"/>
          </a:solidFill>
        </p:spPr>
      </p:sp>
      <p:pic>
        <p:nvPicPr>
          <p:cNvPr id="17" name="icone-31">
            <a:extLst>
              <a:ext uri="{FF2B5EF4-FFF2-40B4-BE49-F238E27FC236}">
                <a16:creationId xmlns:a16="http://schemas.microsoft.com/office/drawing/2014/main" id="{1F428A85-A6BF-4ABC-A412-3D844637686F}"/>
              </a:ext>
            </a:extLst>
          </p:cNvPr>
          <p:cNvPicPr>
            <a:picLocks noChangeAspect="1"/>
          </p:cNvPicPr>
          <p:nvPr/>
        </p:nvPicPr>
        <p:blipFill>
          <a:blip r:embed="rId5"/>
          <a:stretch>
            <a:fillRect/>
          </a:stretch>
        </p:blipFill>
        <p:spPr>
          <a:xfrm>
            <a:off x="9820656" y="1984248"/>
            <a:ext cx="420624" cy="420624"/>
          </a:xfrm>
          <a:prstGeom prst="rect">
            <a:avLst/>
          </a:prstGeom>
        </p:spPr>
      </p:pic>
      <p:sp>
        <p:nvSpPr>
          <p:cNvPr id="18" name="texte-32">
            <a:extLst>
              <a:ext uri="{FF2B5EF4-FFF2-40B4-BE49-F238E27FC236}">
                <a16:creationId xmlns:a16="http://schemas.microsoft.com/office/drawing/2014/main" id="{B73624B0-1799-457E-8423-13318089DD53}"/>
              </a:ext>
            </a:extLst>
          </p:cNvPr>
          <p:cNvSpPr>
            <a:spLocks noGrp="1"/>
          </p:cNvSpPr>
          <p:nvPr/>
        </p:nvSpPr>
        <p:spPr>
          <a:xfrm>
            <a:off x="8659368" y="2788920"/>
            <a:ext cx="2743200" cy="457200"/>
          </a:xfrm>
          <a:prstGeom prst="rect">
            <a:avLst/>
          </a:prstGeom>
          <a:noFill/>
        </p:spPr>
        <p:txBody>
          <a:bodyPr wrap="square" lIns="0" tIns="0" rIns="0" bIns="0" anchor="t"/>
          <a:lstStyle/>
          <a:p>
            <a:pPr marL="0" indent="0" algn="ctr">
              <a:buNone/>
            </a:pPr>
            <a:r>
              <a:rPr sz="2000" b="1">
                <a:solidFill>
                  <a:schemeClr val="tx1"/>
                </a:solidFill>
              </a:rPr>
              <a:t>Données</a:t>
            </a:r>
            <a:endParaRPr sz="2000"/>
          </a:p>
        </p:txBody>
      </p:sp>
      <p:sp>
        <p:nvSpPr>
          <p:cNvPr id="19" name="texte-33">
            <a:extLst>
              <a:ext uri="{FF2B5EF4-FFF2-40B4-BE49-F238E27FC236}">
                <a16:creationId xmlns:a16="http://schemas.microsoft.com/office/drawing/2014/main" id="{1AB9D09A-9BFF-40AA-A45E-CB9B81E80C1E}"/>
              </a:ext>
            </a:extLst>
          </p:cNvPr>
          <p:cNvSpPr>
            <a:spLocks noGrp="1"/>
          </p:cNvSpPr>
          <p:nvPr/>
        </p:nvSpPr>
        <p:spPr>
          <a:xfrm>
            <a:off x="8705088" y="3291840"/>
            <a:ext cx="2651760" cy="1097280"/>
          </a:xfrm>
          <a:prstGeom prst="rect">
            <a:avLst/>
          </a:prstGeom>
          <a:noFill/>
        </p:spPr>
        <p:txBody>
          <a:bodyPr wrap="square" lIns="0" tIns="0" rIns="0" bIns="0" anchor="t"/>
          <a:lstStyle/>
          <a:p>
            <a:pPr marL="0" indent="0" algn="ctr">
              <a:buNone/>
            </a:pPr>
            <a:r>
              <a:rPr sz="1500" i="1">
                <a:solidFill>
                  <a:schemeClr val="accent5"/>
                </a:solidFill>
              </a:rPr>
              <a:t>Base SQLite locale : élèves, classes, matières, notes, présences, frais, paiements et dépenses.</a:t>
            </a:r>
            <a:endParaRPr sz="1500"/>
          </a:p>
        </p:txBody>
      </p:sp>
      <p:sp>
        <p:nvSpPr>
          <p:cNvPr id="20" name="texte-34">
            <a:extLst>
              <a:ext uri="{FF2B5EF4-FFF2-40B4-BE49-F238E27FC236}">
                <a16:creationId xmlns:a16="http://schemas.microsoft.com/office/drawing/2014/main" id="{DB2DCB00-9D0D-41C6-94B7-7F81C2D4DE95}"/>
              </a:ext>
            </a:extLst>
          </p:cNvPr>
          <p:cNvSpPr>
            <a:spLocks noGrp="1"/>
          </p:cNvSpPr>
          <p:nvPr/>
        </p:nvSpPr>
        <p:spPr>
          <a:xfrm>
            <a:off x="612648" y="4846320"/>
            <a:ext cx="10972800" cy="457200"/>
          </a:xfrm>
          <a:prstGeom prst="rect">
            <a:avLst/>
          </a:prstGeom>
          <a:noFill/>
        </p:spPr>
        <p:txBody>
          <a:bodyPr wrap="square" lIns="0" tIns="0" rIns="0" bIns="0" anchor="t"/>
          <a:lstStyle/>
          <a:p>
            <a:pPr marL="0" indent="0">
              <a:buNone/>
            </a:pPr>
            <a:r>
              <a:rPr sz="1700" b="1">
                <a:solidFill>
                  <a:schemeClr val="tx1"/>
                </a:solidFill>
              </a:rPr>
              <a:t>Outils : Python, Tkinter, SQLite, ReportLab, PyInstaller, VS Code et ChatGPT via Codex.</a:t>
            </a:r>
            <a:endParaRPr sz="1700"/>
          </a:p>
        </p:txBody>
      </p:sp>
      <p:sp>
        <p:nvSpPr>
          <p:cNvPr id="25" name="Slide Number Placeholder 0">
            <a:extLst>
              <a:ext uri="{FF2B5EF4-FFF2-40B4-BE49-F238E27FC236}">
                <a16:creationId xmlns:a16="http://schemas.microsoft.com/office/drawing/2014/main" id="{C243A5F9-33DF-4E4A-B5FB-7709FC04E2A9}"/>
              </a:ext>
            </a:extLst>
          </p:cNvPr>
          <p:cNvSpPr>
            <a:spLocks noGrp="1"/>
          </p:cNvSpPr>
          <p:nvPr>
            <p:ph type="sldNum" idx="4294967295"/>
          </p:nvPr>
        </p:nvSpPr>
        <p:spPr>
          <a:xfrm>
            <a:off x="11109960" y="6382512"/>
            <a:ext cx="457200" cy="274320"/>
          </a:xfrm>
          <a:prstGeom prst="rect">
            <a:avLst/>
          </a:prstGeom>
        </p:spPr>
        <p:txBody>
          <a:bodyPr/>
          <a:lstStyle>
            <a:lvl1pPr>
              <a:buNone/>
              <a:defRPr sz="1000">
                <a:solidFill>
                  <a:schemeClr val="accent6"/>
                </a:solidFill>
              </a:defRPr>
            </a:lvl1pPr>
          </a:lstStyle>
          <a:p>
            <a:pPr algn="r">
              <a:buNone/>
            </a:pPr>
            <a:fld id="{F7021451-1387-4CA6-816F-3879F97B5CBC}" type="slidenum">
              <a:rPr b="0"/>
              <a:t>3</a:t>
            </a:fld>
            <a:endParaRPr/>
          </a:p>
        </p:txBody>
      </p:sp>
    </p:spTree>
    <p:extLst>
      <p:ext uri="{BB962C8B-B14F-4D97-AF65-F5344CB8AC3E}">
        <p14:creationId xmlns:p14="http://schemas.microsoft.com/office/powerpoint/2010/main" val="966707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7B36B0B-64F4-4237-BD1D-FB91198116AB}"/>
              </a:ext>
            </a:extLst>
          </p:cNvPr>
          <p:cNvSpPr>
            <a:spLocks noGrp="1"/>
          </p:cNvSpPr>
          <p:nvPr>
            <p:ph type="title" idx="100" hasCustomPrompt="1"/>
          </p:nvPr>
        </p:nvSpPr>
        <p:spPr>
          <a:xfrm>
            <a:off x="612648" y="384048"/>
            <a:ext cx="10972800" cy="777240"/>
          </a:xfrm>
          <a:prstGeom prst="rect">
            <a:avLst/>
          </a:prstGeom>
          <a:noFill/>
        </p:spPr>
        <p:txBody>
          <a:bodyPr wrap="square" lIns="0" tIns="0" rIns="0" bIns="0" anchor="ctr"/>
          <a:lstStyle/>
          <a:p>
            <a:pPr marL="0" indent="0" algn="l">
              <a:buNone/>
            </a:pPr>
            <a:r>
              <a:rPr sz="3400" b="1">
                <a:solidFill>
                  <a:schemeClr val="tx1"/>
                </a:solidFill>
              </a:rPr>
              <a:t>Organisation des données</a:t>
            </a:r>
            <a:endParaRPr sz="3400"/>
          </a:p>
        </p:txBody>
      </p:sp>
      <p:sp>
        <p:nvSpPr>
          <p:cNvPr id="3" name="zone-image-35">
            <a:extLst>
              <a:ext uri="{FF2B5EF4-FFF2-40B4-BE49-F238E27FC236}">
                <a16:creationId xmlns:a16="http://schemas.microsoft.com/office/drawing/2014/main" id="{05902522-79CE-482A-95F4-8A6C134ED085}"/>
              </a:ext>
            </a:extLst>
          </p:cNvPr>
          <p:cNvSpPr>
            <a:spLocks noGrp="1"/>
          </p:cNvSpPr>
          <p:nvPr/>
        </p:nvSpPr>
        <p:spPr>
          <a:xfrm>
            <a:off x="612648" y="1417320"/>
            <a:ext cx="6766560" cy="4389120"/>
          </a:xfrm>
          <a:prstGeom prst="roundRect">
            <a:avLst>
              <a:gd name="adj" fmla="val 2083"/>
            </a:avLst>
          </a:prstGeom>
          <a:solidFill>
            <a:schemeClr val="bg2"/>
          </a:solidFill>
          <a:ln w="15875">
            <a:solidFill>
              <a:schemeClr val="accent5"/>
            </a:solidFill>
            <a:prstDash val="dash"/>
          </a:ln>
        </p:spPr>
      </p:sp>
      <p:sp>
        <p:nvSpPr>
          <p:cNvPr id="4" name="Text 15">
            <a:extLst>
              <a:ext uri="{FF2B5EF4-FFF2-40B4-BE49-F238E27FC236}">
                <a16:creationId xmlns:a16="http://schemas.microsoft.com/office/drawing/2014/main" id="{5B3AC3EF-B455-4920-93C4-9EE6D57F6851}"/>
              </a:ext>
            </a:extLst>
          </p:cNvPr>
          <p:cNvSpPr>
            <a:spLocks noGrp="1"/>
          </p:cNvSpPr>
          <p:nvPr/>
        </p:nvSpPr>
        <p:spPr>
          <a:xfrm>
            <a:off x="886968" y="1417320"/>
            <a:ext cx="6217920" cy="4389120"/>
          </a:xfrm>
          <a:prstGeom prst="rect">
            <a:avLst/>
          </a:prstGeom>
          <a:noFill/>
        </p:spPr>
        <p:txBody>
          <a:bodyPr wrap="square" lIns="0" tIns="0" rIns="0" bIns="0" anchor="ctr"/>
          <a:lstStyle/>
          <a:p>
            <a:pPr marL="0" indent="0" algn="ctr">
              <a:buNone/>
            </a:pPr>
            <a:r>
              <a:rPr sz="1600" i="1">
                <a:solidFill>
                  <a:schemeClr val="accent5"/>
                </a:solidFill>
              </a:rPr>
              <a:t>Base locale SQLite</a:t>
            </a:r>
            <a:endParaRPr sz="1600"/>
          </a:p>
          <a:p>
            <a:pPr marL="0" indent="0" algn="ctr">
              <a:buNone/>
            </a:pPr>
            <a:endParaRPr sz="1600"/>
          </a:p>
          <a:p>
            <a:pPr marL="0" indent="0" algn="ctr">
              <a:buNone/>
            </a:pPr>
            <a:r>
              <a:rPr sz="1600" i="1">
                <a:solidFill>
                  <a:schemeClr val="accent5"/>
                </a:solidFill>
              </a:rPr>
              <a:t>CLASSES → ÉLÈVES</a:t>
            </a:r>
            <a:endParaRPr sz="1600"/>
          </a:p>
          <a:p>
            <a:pPr marL="0" indent="0" algn="ctr">
              <a:buNone/>
            </a:pPr>
            <a:r>
              <a:rPr sz="1600" i="1">
                <a:solidFill>
                  <a:schemeClr val="accent5"/>
                </a:solidFill>
              </a:rPr>
              <a:t>CLASSES → MATIÈRES → NOTES</a:t>
            </a:r>
            <a:endParaRPr sz="1600"/>
          </a:p>
          <a:p>
            <a:pPr marL="0" indent="0" algn="ctr">
              <a:buNone/>
            </a:pPr>
            <a:r>
              <a:rPr sz="1600" i="1">
                <a:solidFill>
                  <a:schemeClr val="accent5"/>
                </a:solidFill>
              </a:rPr>
              <a:t>ÉLÈVES → NOTES, PRÉSENCES, FRAIS, PAIEMENTS</a:t>
            </a:r>
            <a:endParaRPr sz="1600"/>
          </a:p>
          <a:p>
            <a:pPr marL="0" indent="0" algn="ctr">
              <a:buNone/>
            </a:pPr>
            <a:endParaRPr sz="1600"/>
          </a:p>
          <a:p>
            <a:pPr marL="0" indent="0" algn="ctr">
              <a:buNone/>
            </a:pPr>
            <a:r>
              <a:rPr sz="1600" i="1">
                <a:solidFill>
                  <a:schemeClr val="accent5"/>
                </a:solidFill>
              </a:rPr>
              <a:t>Une fiche élève peut avoir plusieurs notes et règlements. Les frais et paiements sont suivis séparément.</a:t>
            </a:r>
            <a:endParaRPr sz="1600"/>
          </a:p>
        </p:txBody>
      </p:sp>
      <p:sp>
        <p:nvSpPr>
          <p:cNvPr id="5" name="carte-37">
            <a:extLst>
              <a:ext uri="{FF2B5EF4-FFF2-40B4-BE49-F238E27FC236}">
                <a16:creationId xmlns:a16="http://schemas.microsoft.com/office/drawing/2014/main" id="{A8735E2D-6F44-4FC7-820E-14865028C585}"/>
              </a:ext>
            </a:extLst>
          </p:cNvPr>
          <p:cNvSpPr>
            <a:spLocks noGrp="1"/>
          </p:cNvSpPr>
          <p:nvPr/>
        </p:nvSpPr>
        <p:spPr>
          <a:xfrm>
            <a:off x="7653528" y="1417320"/>
            <a:ext cx="3931920" cy="4389120"/>
          </a:xfrm>
          <a:prstGeom prst="roundRect">
            <a:avLst>
              <a:gd name="adj" fmla="val 2791"/>
            </a:avLst>
          </a:prstGeom>
          <a:solidFill>
            <a:schemeClr val="bg2"/>
          </a:solidFill>
        </p:spPr>
      </p:sp>
      <p:sp>
        <p:nvSpPr>
          <p:cNvPr id="6" name="texte-38">
            <a:extLst>
              <a:ext uri="{FF2B5EF4-FFF2-40B4-BE49-F238E27FC236}">
                <a16:creationId xmlns:a16="http://schemas.microsoft.com/office/drawing/2014/main" id="{75A41EE4-9314-45E8-B2CF-EE4C37E6EB8A}"/>
              </a:ext>
            </a:extLst>
          </p:cNvPr>
          <p:cNvSpPr>
            <a:spLocks noGrp="1"/>
          </p:cNvSpPr>
          <p:nvPr/>
        </p:nvSpPr>
        <p:spPr>
          <a:xfrm>
            <a:off x="7927848" y="1600200"/>
            <a:ext cx="3383280" cy="457200"/>
          </a:xfrm>
          <a:prstGeom prst="rect">
            <a:avLst/>
          </a:prstGeom>
          <a:noFill/>
        </p:spPr>
        <p:txBody>
          <a:bodyPr wrap="square" lIns="0" tIns="0" rIns="0" bIns="0" anchor="t"/>
          <a:lstStyle/>
          <a:p>
            <a:pPr marL="0" indent="0">
              <a:buNone/>
            </a:pPr>
            <a:r>
              <a:rPr sz="1900" b="1">
                <a:solidFill>
                  <a:schemeClr val="tx1"/>
                </a:solidFill>
              </a:rPr>
              <a:t>À retenir</a:t>
            </a:r>
            <a:endParaRPr sz="1900"/>
          </a:p>
        </p:txBody>
      </p:sp>
      <p:sp>
        <p:nvSpPr>
          <p:cNvPr id="7" name="Text 15">
            <a:extLst>
              <a:ext uri="{FF2B5EF4-FFF2-40B4-BE49-F238E27FC236}">
                <a16:creationId xmlns:a16="http://schemas.microsoft.com/office/drawing/2014/main" id="{D92F3D77-D47E-4A57-954B-BC4B4CB13AA5}"/>
              </a:ext>
            </a:extLst>
          </p:cNvPr>
          <p:cNvSpPr>
            <a:spLocks noGrp="1"/>
          </p:cNvSpPr>
          <p:nvPr/>
        </p:nvSpPr>
        <p:spPr>
          <a:xfrm>
            <a:off x="7927848" y="2148840"/>
            <a:ext cx="3383280" cy="3474720"/>
          </a:xfrm>
          <a:prstGeom prst="rect">
            <a:avLst/>
          </a:prstGeom>
          <a:noFill/>
        </p:spPr>
        <p:txBody>
          <a:bodyPr wrap="square" lIns="0" tIns="0" rIns="0" bIns="0" anchor="ctr"/>
          <a:lstStyle/>
          <a:p>
            <a:pPr marL="0" indent="0">
              <a:buNone/>
            </a:pPr>
            <a:r>
              <a:rPr sz="1550" i="1">
                <a:solidFill>
                  <a:schemeClr val="accent5"/>
                </a:solidFill>
              </a:rPr>
              <a:t>Élèves : identité et classe</a:t>
            </a:r>
            <a:endParaRPr sz="1550"/>
          </a:p>
          <a:p>
            <a:pPr marL="0" indent="0">
              <a:buNone/>
            </a:pPr>
            <a:endParaRPr sz="1550"/>
          </a:p>
          <a:p>
            <a:pPr marL="0" indent="0">
              <a:buNone/>
            </a:pPr>
            <a:r>
              <a:rPr sz="1550" i="1">
                <a:solidFill>
                  <a:schemeClr val="accent5"/>
                </a:solidFill>
              </a:rPr>
              <a:t>Lien : une classe regroupe des élèves et des matières</a:t>
            </a:r>
            <a:endParaRPr sz="1550"/>
          </a:p>
          <a:p>
            <a:pPr marL="0" indent="0">
              <a:buNone/>
            </a:pPr>
            <a:endParaRPr sz="1550"/>
          </a:p>
          <a:p>
            <a:pPr marL="0" indent="0">
              <a:buNone/>
            </a:pPr>
            <a:r>
              <a:rPr sz="1550" i="1">
                <a:solidFill>
                  <a:schemeClr val="accent5"/>
                </a:solidFill>
              </a:rPr>
              <a:t>Notes : reliées à l’élève, la matière, la période et l’année</a:t>
            </a:r>
            <a:endParaRPr sz="1550"/>
          </a:p>
          <a:p>
            <a:pPr marL="0" indent="0">
              <a:buNone/>
            </a:pPr>
            <a:endParaRPr sz="1550"/>
          </a:p>
          <a:p>
            <a:pPr marL="0" indent="0">
              <a:buNone/>
            </a:pPr>
            <a:r>
              <a:rPr sz="1550" i="1">
                <a:solidFill>
                  <a:schemeClr val="accent5"/>
                </a:solidFill>
              </a:rPr>
              <a:t>Barème utilisé : notes sur 10</a:t>
            </a:r>
            <a:endParaRPr sz="1550"/>
          </a:p>
        </p:txBody>
      </p:sp>
      <p:sp>
        <p:nvSpPr>
          <p:cNvPr id="25" name="Slide Number Placeholder 0">
            <a:extLst>
              <a:ext uri="{FF2B5EF4-FFF2-40B4-BE49-F238E27FC236}">
                <a16:creationId xmlns:a16="http://schemas.microsoft.com/office/drawing/2014/main" id="{54344428-6B6F-48FD-B703-18CDC0554B49}"/>
              </a:ext>
            </a:extLst>
          </p:cNvPr>
          <p:cNvSpPr>
            <a:spLocks noGrp="1"/>
          </p:cNvSpPr>
          <p:nvPr>
            <p:ph type="sldNum" idx="4294967295"/>
          </p:nvPr>
        </p:nvSpPr>
        <p:spPr>
          <a:xfrm>
            <a:off x="11109960" y="6382512"/>
            <a:ext cx="457200" cy="274320"/>
          </a:xfrm>
          <a:prstGeom prst="rect">
            <a:avLst/>
          </a:prstGeom>
        </p:spPr>
        <p:txBody>
          <a:bodyPr/>
          <a:lstStyle>
            <a:lvl1pPr>
              <a:buNone/>
              <a:defRPr sz="1000">
                <a:solidFill>
                  <a:schemeClr val="accent6"/>
                </a:solidFill>
              </a:defRPr>
            </a:lvl1pPr>
          </a:lstStyle>
          <a:p>
            <a:pPr algn="r">
              <a:buNone/>
            </a:pPr>
            <a:fld id="{F7021451-1387-4CA6-816F-3879F97B5CBC}" type="slidenum">
              <a:rPr b="0"/>
              <a:t>4</a:t>
            </a:fld>
            <a:endParaRPr/>
          </a:p>
        </p:txBody>
      </p:sp>
    </p:spTree>
    <p:extLst>
      <p:ext uri="{BB962C8B-B14F-4D97-AF65-F5344CB8AC3E}">
        <p14:creationId xmlns:p14="http://schemas.microsoft.com/office/powerpoint/2010/main" val="1405285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BF37860-0399-4361-A185-1CE7EABED874}"/>
              </a:ext>
            </a:extLst>
          </p:cNvPr>
          <p:cNvSpPr>
            <a:spLocks noGrp="1"/>
          </p:cNvSpPr>
          <p:nvPr>
            <p:ph type="title" idx="100" hasCustomPrompt="1"/>
          </p:nvPr>
        </p:nvSpPr>
        <p:spPr>
          <a:xfrm>
            <a:off x="612648" y="384048"/>
            <a:ext cx="10972800" cy="777240"/>
          </a:xfrm>
          <a:prstGeom prst="rect">
            <a:avLst/>
          </a:prstGeom>
          <a:noFill/>
        </p:spPr>
        <p:txBody>
          <a:bodyPr wrap="square" lIns="0" tIns="0" rIns="0" bIns="0" anchor="ctr"/>
          <a:lstStyle/>
          <a:p>
            <a:pPr marL="0" indent="0" algn="l">
              <a:buNone/>
            </a:pPr>
            <a:r>
              <a:rPr sz="3400" b="1">
                <a:solidFill>
                  <a:schemeClr val="tx1"/>
                </a:solidFill>
              </a:rPr>
              <a:t>Démonstration</a:t>
            </a:r>
            <a:endParaRPr sz="3400"/>
          </a:p>
        </p:txBody>
      </p:sp>
      <p:sp>
        <p:nvSpPr>
          <p:cNvPr id="3" name="etape-40">
            <a:extLst>
              <a:ext uri="{FF2B5EF4-FFF2-40B4-BE49-F238E27FC236}">
                <a16:creationId xmlns:a16="http://schemas.microsoft.com/office/drawing/2014/main" id="{900562AE-E16F-4F21-B0AF-3719191CB4E9}"/>
              </a:ext>
            </a:extLst>
          </p:cNvPr>
          <p:cNvSpPr>
            <a:spLocks noGrp="1"/>
          </p:cNvSpPr>
          <p:nvPr/>
        </p:nvSpPr>
        <p:spPr>
          <a:xfrm>
            <a:off x="612648" y="1463040"/>
            <a:ext cx="685800" cy="685800"/>
          </a:xfrm>
          <a:prstGeom prst="ellipse">
            <a:avLst/>
          </a:prstGeom>
          <a:solidFill>
            <a:schemeClr val="accent2"/>
          </a:solidFill>
        </p:spPr>
      </p:sp>
      <p:sp>
        <p:nvSpPr>
          <p:cNvPr id="4" name="texte-41">
            <a:extLst>
              <a:ext uri="{FF2B5EF4-FFF2-40B4-BE49-F238E27FC236}">
                <a16:creationId xmlns:a16="http://schemas.microsoft.com/office/drawing/2014/main" id="{A845FBE7-6A88-42D8-A6E5-F7116B597834}"/>
              </a:ext>
            </a:extLst>
          </p:cNvPr>
          <p:cNvSpPr>
            <a:spLocks noGrp="1"/>
          </p:cNvSpPr>
          <p:nvPr/>
        </p:nvSpPr>
        <p:spPr>
          <a:xfrm>
            <a:off x="612648" y="1463040"/>
            <a:ext cx="685800" cy="685800"/>
          </a:xfrm>
          <a:prstGeom prst="rect">
            <a:avLst/>
          </a:prstGeom>
          <a:noFill/>
        </p:spPr>
        <p:txBody>
          <a:bodyPr wrap="square" lIns="0" tIns="0" rIns="0" bIns="0" anchor="ctr"/>
          <a:lstStyle/>
          <a:p>
            <a:pPr marL="0" indent="0" algn="ctr">
              <a:buNone/>
            </a:pPr>
            <a:r>
              <a:rPr sz="2200" b="1">
                <a:solidFill>
                  <a:schemeClr val="bg1"/>
                </a:solidFill>
              </a:rPr>
              <a:t>1</a:t>
            </a:r>
            <a:endParaRPr sz="2200"/>
          </a:p>
        </p:txBody>
      </p:sp>
      <p:sp>
        <p:nvSpPr>
          <p:cNvPr id="5" name="Text 15">
            <a:extLst>
              <a:ext uri="{FF2B5EF4-FFF2-40B4-BE49-F238E27FC236}">
                <a16:creationId xmlns:a16="http://schemas.microsoft.com/office/drawing/2014/main" id="{E87573F7-F3DB-4F4D-9368-8F2399EB9988}"/>
              </a:ext>
            </a:extLst>
          </p:cNvPr>
          <p:cNvSpPr>
            <a:spLocks noGrp="1"/>
          </p:cNvSpPr>
          <p:nvPr/>
        </p:nvSpPr>
        <p:spPr>
          <a:xfrm>
            <a:off x="1572768" y="1417320"/>
            <a:ext cx="9966960" cy="777240"/>
          </a:xfrm>
          <a:prstGeom prst="rect">
            <a:avLst/>
          </a:prstGeom>
          <a:noFill/>
        </p:spPr>
        <p:txBody>
          <a:bodyPr wrap="square" lIns="0" tIns="0" rIns="0" bIns="0" anchor="ctr"/>
          <a:lstStyle/>
          <a:p>
            <a:pPr marL="0" indent="0">
              <a:buNone/>
            </a:pPr>
            <a:r>
              <a:rPr sz="1800" i="1">
                <a:solidFill>
                  <a:schemeClr val="accent5"/>
                </a:solidFill>
              </a:rPr>
              <a:t>Choisir une classe puis ajouter un élève fictif.</a:t>
            </a:r>
            <a:endParaRPr sz="1800"/>
          </a:p>
        </p:txBody>
      </p:sp>
      <p:sp>
        <p:nvSpPr>
          <p:cNvPr id="6" name="etape-43">
            <a:extLst>
              <a:ext uri="{FF2B5EF4-FFF2-40B4-BE49-F238E27FC236}">
                <a16:creationId xmlns:a16="http://schemas.microsoft.com/office/drawing/2014/main" id="{4D5725AA-24DA-411F-9477-C16488540A7F}"/>
              </a:ext>
            </a:extLst>
          </p:cNvPr>
          <p:cNvSpPr>
            <a:spLocks noGrp="1"/>
          </p:cNvSpPr>
          <p:nvPr/>
        </p:nvSpPr>
        <p:spPr>
          <a:xfrm>
            <a:off x="612648" y="2423160"/>
            <a:ext cx="685800" cy="685800"/>
          </a:xfrm>
          <a:prstGeom prst="ellipse">
            <a:avLst/>
          </a:prstGeom>
          <a:solidFill>
            <a:schemeClr val="accent1"/>
          </a:solidFill>
        </p:spPr>
      </p:sp>
      <p:sp>
        <p:nvSpPr>
          <p:cNvPr id="7" name="texte-44">
            <a:extLst>
              <a:ext uri="{FF2B5EF4-FFF2-40B4-BE49-F238E27FC236}">
                <a16:creationId xmlns:a16="http://schemas.microsoft.com/office/drawing/2014/main" id="{5E72F121-8430-45D9-9EDD-AAA6998B80A3}"/>
              </a:ext>
            </a:extLst>
          </p:cNvPr>
          <p:cNvSpPr>
            <a:spLocks noGrp="1"/>
          </p:cNvSpPr>
          <p:nvPr/>
        </p:nvSpPr>
        <p:spPr>
          <a:xfrm>
            <a:off x="612648" y="2423160"/>
            <a:ext cx="685800" cy="685800"/>
          </a:xfrm>
          <a:prstGeom prst="rect">
            <a:avLst/>
          </a:prstGeom>
          <a:noFill/>
        </p:spPr>
        <p:txBody>
          <a:bodyPr wrap="square" lIns="0" tIns="0" rIns="0" bIns="0" anchor="ctr"/>
          <a:lstStyle/>
          <a:p>
            <a:pPr marL="0" indent="0" algn="ctr">
              <a:buNone/>
            </a:pPr>
            <a:r>
              <a:rPr sz="2200" b="1">
                <a:solidFill>
                  <a:schemeClr val="bg1"/>
                </a:solidFill>
              </a:rPr>
              <a:t>2</a:t>
            </a:r>
            <a:endParaRPr sz="2200"/>
          </a:p>
        </p:txBody>
      </p:sp>
      <p:sp>
        <p:nvSpPr>
          <p:cNvPr id="8" name="Text 15">
            <a:extLst>
              <a:ext uri="{FF2B5EF4-FFF2-40B4-BE49-F238E27FC236}">
                <a16:creationId xmlns:a16="http://schemas.microsoft.com/office/drawing/2014/main" id="{3127C952-B3BA-4BEF-A0C8-A6F0E6A4A572}"/>
              </a:ext>
            </a:extLst>
          </p:cNvPr>
          <p:cNvSpPr>
            <a:spLocks noGrp="1"/>
          </p:cNvSpPr>
          <p:nvPr/>
        </p:nvSpPr>
        <p:spPr>
          <a:xfrm>
            <a:off x="1572768" y="2377440"/>
            <a:ext cx="9966960" cy="777240"/>
          </a:xfrm>
          <a:prstGeom prst="rect">
            <a:avLst/>
          </a:prstGeom>
          <a:noFill/>
        </p:spPr>
        <p:txBody>
          <a:bodyPr wrap="square" lIns="0" tIns="0" rIns="0" bIns="0" anchor="ctr"/>
          <a:lstStyle/>
          <a:p>
            <a:pPr marL="0" indent="0">
              <a:buNone/>
            </a:pPr>
            <a:r>
              <a:rPr sz="1800" i="1">
                <a:solidFill>
                  <a:schemeClr val="accent5"/>
                </a:solidFill>
              </a:rPr>
              <a:t>Associer une matière et saisir une note sur 10.</a:t>
            </a:r>
            <a:endParaRPr sz="1800"/>
          </a:p>
        </p:txBody>
      </p:sp>
      <p:sp>
        <p:nvSpPr>
          <p:cNvPr id="9" name="etape-46">
            <a:extLst>
              <a:ext uri="{FF2B5EF4-FFF2-40B4-BE49-F238E27FC236}">
                <a16:creationId xmlns:a16="http://schemas.microsoft.com/office/drawing/2014/main" id="{15FEBB7B-146F-426B-A555-64B561D8D8FC}"/>
              </a:ext>
            </a:extLst>
          </p:cNvPr>
          <p:cNvSpPr>
            <a:spLocks noGrp="1"/>
          </p:cNvSpPr>
          <p:nvPr/>
        </p:nvSpPr>
        <p:spPr>
          <a:xfrm>
            <a:off x="612648" y="3383280"/>
            <a:ext cx="685800" cy="685800"/>
          </a:xfrm>
          <a:prstGeom prst="ellipse">
            <a:avLst/>
          </a:prstGeom>
          <a:solidFill>
            <a:schemeClr val="accent3"/>
          </a:solidFill>
        </p:spPr>
      </p:sp>
      <p:sp>
        <p:nvSpPr>
          <p:cNvPr id="10" name="texte-47">
            <a:extLst>
              <a:ext uri="{FF2B5EF4-FFF2-40B4-BE49-F238E27FC236}">
                <a16:creationId xmlns:a16="http://schemas.microsoft.com/office/drawing/2014/main" id="{0FDFCA8B-B226-4C27-91A4-63F4860D2AF5}"/>
              </a:ext>
            </a:extLst>
          </p:cNvPr>
          <p:cNvSpPr>
            <a:spLocks noGrp="1"/>
          </p:cNvSpPr>
          <p:nvPr/>
        </p:nvSpPr>
        <p:spPr>
          <a:xfrm>
            <a:off x="612648" y="3383280"/>
            <a:ext cx="685800" cy="685800"/>
          </a:xfrm>
          <a:prstGeom prst="rect">
            <a:avLst/>
          </a:prstGeom>
          <a:noFill/>
        </p:spPr>
        <p:txBody>
          <a:bodyPr wrap="square" lIns="0" tIns="0" rIns="0" bIns="0" anchor="ctr"/>
          <a:lstStyle/>
          <a:p>
            <a:pPr marL="0" indent="0" algn="ctr">
              <a:buNone/>
            </a:pPr>
            <a:r>
              <a:rPr sz="2200" b="1">
                <a:solidFill>
                  <a:schemeClr val="bg1"/>
                </a:solidFill>
              </a:rPr>
              <a:t>3</a:t>
            </a:r>
            <a:endParaRPr sz="2200"/>
          </a:p>
        </p:txBody>
      </p:sp>
      <p:sp>
        <p:nvSpPr>
          <p:cNvPr id="11" name="Text 15">
            <a:extLst>
              <a:ext uri="{FF2B5EF4-FFF2-40B4-BE49-F238E27FC236}">
                <a16:creationId xmlns:a16="http://schemas.microsoft.com/office/drawing/2014/main" id="{92716180-E547-40FA-A47C-58B82FA52C25}"/>
              </a:ext>
            </a:extLst>
          </p:cNvPr>
          <p:cNvSpPr>
            <a:spLocks noGrp="1"/>
          </p:cNvSpPr>
          <p:nvPr/>
        </p:nvSpPr>
        <p:spPr>
          <a:xfrm>
            <a:off x="1572768" y="3337560"/>
            <a:ext cx="9966960" cy="777240"/>
          </a:xfrm>
          <a:prstGeom prst="rect">
            <a:avLst/>
          </a:prstGeom>
          <a:noFill/>
        </p:spPr>
        <p:txBody>
          <a:bodyPr wrap="square" lIns="0" tIns="0" rIns="0" bIns="0" anchor="ctr"/>
          <a:lstStyle/>
          <a:p>
            <a:pPr marL="0" indent="0">
              <a:buNone/>
            </a:pPr>
            <a:r>
              <a:rPr sz="1800" i="1">
                <a:solidFill>
                  <a:schemeClr val="accent5"/>
                </a:solidFill>
              </a:rPr>
              <a:t>Ouvrir Bulletins individuels et choisir l’élève.</a:t>
            </a:r>
            <a:endParaRPr sz="1800"/>
          </a:p>
        </p:txBody>
      </p:sp>
      <p:sp>
        <p:nvSpPr>
          <p:cNvPr id="12" name="etape-49">
            <a:extLst>
              <a:ext uri="{FF2B5EF4-FFF2-40B4-BE49-F238E27FC236}">
                <a16:creationId xmlns:a16="http://schemas.microsoft.com/office/drawing/2014/main" id="{FCF1A756-E539-43C0-ADC8-01DA0CFE6E7A}"/>
              </a:ext>
            </a:extLst>
          </p:cNvPr>
          <p:cNvSpPr>
            <a:spLocks noGrp="1"/>
          </p:cNvSpPr>
          <p:nvPr/>
        </p:nvSpPr>
        <p:spPr>
          <a:xfrm>
            <a:off x="612648" y="4343400"/>
            <a:ext cx="685800" cy="685800"/>
          </a:xfrm>
          <a:prstGeom prst="ellipse">
            <a:avLst/>
          </a:prstGeom>
          <a:solidFill>
            <a:schemeClr val="tx2"/>
          </a:solidFill>
        </p:spPr>
      </p:sp>
      <p:sp>
        <p:nvSpPr>
          <p:cNvPr id="13" name="texte-50">
            <a:extLst>
              <a:ext uri="{FF2B5EF4-FFF2-40B4-BE49-F238E27FC236}">
                <a16:creationId xmlns:a16="http://schemas.microsoft.com/office/drawing/2014/main" id="{B12827B1-ECE6-4BE2-A9B5-2959D22B872E}"/>
              </a:ext>
            </a:extLst>
          </p:cNvPr>
          <p:cNvSpPr>
            <a:spLocks noGrp="1"/>
          </p:cNvSpPr>
          <p:nvPr/>
        </p:nvSpPr>
        <p:spPr>
          <a:xfrm>
            <a:off x="612648" y="4343400"/>
            <a:ext cx="685800" cy="685800"/>
          </a:xfrm>
          <a:prstGeom prst="rect">
            <a:avLst/>
          </a:prstGeom>
          <a:noFill/>
        </p:spPr>
        <p:txBody>
          <a:bodyPr wrap="square" lIns="0" tIns="0" rIns="0" bIns="0" anchor="ctr"/>
          <a:lstStyle/>
          <a:p>
            <a:pPr marL="0" indent="0" algn="ctr">
              <a:buNone/>
            </a:pPr>
            <a:r>
              <a:rPr sz="2200" b="1">
                <a:solidFill>
                  <a:schemeClr val="bg1"/>
                </a:solidFill>
              </a:rPr>
              <a:t>4</a:t>
            </a:r>
            <a:endParaRPr sz="2200"/>
          </a:p>
        </p:txBody>
      </p:sp>
      <p:sp>
        <p:nvSpPr>
          <p:cNvPr id="14" name="Text 15">
            <a:extLst>
              <a:ext uri="{FF2B5EF4-FFF2-40B4-BE49-F238E27FC236}">
                <a16:creationId xmlns:a16="http://schemas.microsoft.com/office/drawing/2014/main" id="{B0051205-7731-4F4F-9A17-50D710EBE8D0}"/>
              </a:ext>
            </a:extLst>
          </p:cNvPr>
          <p:cNvSpPr>
            <a:spLocks noGrp="1"/>
          </p:cNvSpPr>
          <p:nvPr/>
        </p:nvSpPr>
        <p:spPr>
          <a:xfrm>
            <a:off x="1572768" y="4297680"/>
            <a:ext cx="9966960" cy="777240"/>
          </a:xfrm>
          <a:prstGeom prst="rect">
            <a:avLst/>
          </a:prstGeom>
          <a:noFill/>
        </p:spPr>
        <p:txBody>
          <a:bodyPr wrap="square" lIns="0" tIns="0" rIns="0" bIns="0" anchor="ctr"/>
          <a:lstStyle/>
          <a:p>
            <a:pPr marL="0" indent="0">
              <a:buNone/>
            </a:pPr>
            <a:r>
              <a:rPr sz="1800" i="1">
                <a:solidFill>
                  <a:schemeClr val="accent5"/>
                </a:solidFill>
              </a:rPr>
              <a:t>Créer le PDF, puis montrer un rapport par classe.</a:t>
            </a:r>
            <a:endParaRPr sz="1800"/>
          </a:p>
        </p:txBody>
      </p:sp>
      <p:sp>
        <p:nvSpPr>
          <p:cNvPr id="15" name="carte-52">
            <a:extLst>
              <a:ext uri="{FF2B5EF4-FFF2-40B4-BE49-F238E27FC236}">
                <a16:creationId xmlns:a16="http://schemas.microsoft.com/office/drawing/2014/main" id="{F4B31C6B-F882-4CAE-9B50-4AC6D414F2A0}"/>
              </a:ext>
            </a:extLst>
          </p:cNvPr>
          <p:cNvSpPr>
            <a:spLocks noGrp="1"/>
          </p:cNvSpPr>
          <p:nvPr/>
        </p:nvSpPr>
        <p:spPr>
          <a:xfrm>
            <a:off x="612648" y="5349240"/>
            <a:ext cx="10972800" cy="548640"/>
          </a:xfrm>
          <a:prstGeom prst="roundRect">
            <a:avLst>
              <a:gd name="adj" fmla="val 20000"/>
            </a:avLst>
          </a:prstGeom>
          <a:solidFill>
            <a:schemeClr val="tx1"/>
          </a:solidFill>
        </p:spPr>
      </p:sp>
      <p:sp>
        <p:nvSpPr>
          <p:cNvPr id="16" name="texte-53">
            <a:extLst>
              <a:ext uri="{FF2B5EF4-FFF2-40B4-BE49-F238E27FC236}">
                <a16:creationId xmlns:a16="http://schemas.microsoft.com/office/drawing/2014/main" id="{5C78343A-463A-4022-BA80-308359AABC74}"/>
              </a:ext>
            </a:extLst>
          </p:cNvPr>
          <p:cNvSpPr>
            <a:spLocks noGrp="1"/>
          </p:cNvSpPr>
          <p:nvPr/>
        </p:nvSpPr>
        <p:spPr>
          <a:xfrm>
            <a:off x="886968" y="5349240"/>
            <a:ext cx="10424160" cy="548640"/>
          </a:xfrm>
          <a:prstGeom prst="rect">
            <a:avLst/>
          </a:prstGeom>
          <a:noFill/>
        </p:spPr>
        <p:txBody>
          <a:bodyPr wrap="square" lIns="0" tIns="0" rIns="0" bIns="0" anchor="ctr"/>
          <a:lstStyle/>
          <a:p>
            <a:pPr marL="0" indent="0">
              <a:buNone/>
            </a:pPr>
            <a:r>
              <a:rPr sz="1700" b="1">
                <a:solidFill>
                  <a:schemeClr val="accent3"/>
                </a:solidFill>
              </a:rPr>
              <a:t>Démonstration avec données fictives. Les captures de secours sont à ajouter en annexe.</a:t>
            </a:r>
            <a:endParaRPr sz="1700"/>
          </a:p>
        </p:txBody>
      </p:sp>
      <p:sp>
        <p:nvSpPr>
          <p:cNvPr id="25" name="Slide Number Placeholder 0">
            <a:extLst>
              <a:ext uri="{FF2B5EF4-FFF2-40B4-BE49-F238E27FC236}">
                <a16:creationId xmlns:a16="http://schemas.microsoft.com/office/drawing/2014/main" id="{AF7E27B2-2F49-4CDC-BC49-FFA3EA6038CF}"/>
              </a:ext>
            </a:extLst>
          </p:cNvPr>
          <p:cNvSpPr>
            <a:spLocks noGrp="1"/>
          </p:cNvSpPr>
          <p:nvPr>
            <p:ph type="sldNum" idx="4294967295"/>
          </p:nvPr>
        </p:nvSpPr>
        <p:spPr>
          <a:xfrm>
            <a:off x="11109960" y="6382512"/>
            <a:ext cx="457200" cy="274320"/>
          </a:xfrm>
          <a:prstGeom prst="rect">
            <a:avLst/>
          </a:prstGeom>
        </p:spPr>
        <p:txBody>
          <a:bodyPr/>
          <a:lstStyle>
            <a:lvl1pPr>
              <a:buNone/>
              <a:defRPr sz="1000">
                <a:solidFill>
                  <a:schemeClr val="accent6"/>
                </a:solidFill>
              </a:defRPr>
            </a:lvl1pPr>
          </a:lstStyle>
          <a:p>
            <a:pPr algn="r">
              <a:buNone/>
            </a:pPr>
            <a:fld id="{F7021451-1387-4CA6-816F-3879F97B5CBC}" type="slidenum">
              <a:rPr b="0"/>
              <a:t>5</a:t>
            </a:fld>
            <a:endParaRPr/>
          </a:p>
        </p:txBody>
      </p:sp>
    </p:spTree>
    <p:extLst>
      <p:ext uri="{BB962C8B-B14F-4D97-AF65-F5344CB8AC3E}">
        <p14:creationId xmlns:p14="http://schemas.microsoft.com/office/powerpoint/2010/main" val="1390908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242FC88-F6CE-4044-A8A9-809BA3CEA9BF}"/>
              </a:ext>
            </a:extLst>
          </p:cNvPr>
          <p:cNvSpPr>
            <a:spLocks noGrp="1"/>
          </p:cNvSpPr>
          <p:nvPr>
            <p:ph type="title" idx="100" hasCustomPrompt="1"/>
          </p:nvPr>
        </p:nvSpPr>
        <p:spPr>
          <a:xfrm>
            <a:off x="612648" y="384048"/>
            <a:ext cx="10972800" cy="777240"/>
          </a:xfrm>
          <a:prstGeom prst="rect">
            <a:avLst/>
          </a:prstGeom>
          <a:noFill/>
        </p:spPr>
        <p:txBody>
          <a:bodyPr wrap="square" lIns="0" tIns="0" rIns="0" bIns="0" anchor="ctr"/>
          <a:lstStyle/>
          <a:p>
            <a:pPr marL="0" indent="0" algn="l">
              <a:buNone/>
            </a:pPr>
            <a:r>
              <a:rPr sz="3400" b="1">
                <a:solidFill>
                  <a:schemeClr val="tx1"/>
                </a:solidFill>
              </a:rPr>
              <a:t>L’IA dans notre projet</a:t>
            </a:r>
            <a:endParaRPr sz="3400"/>
          </a:p>
        </p:txBody>
      </p:sp>
      <p:graphicFrame>
        <p:nvGraphicFramePr>
          <p:cNvPr id="7" name="tableau-54">
            <a:extLst>
              <a:ext uri="{FF2B5EF4-FFF2-40B4-BE49-F238E27FC236}">
                <a16:creationId xmlns:a16="http://schemas.microsoft.com/office/drawing/2014/main" id="{5B4BA115-6134-47B5-AF26-A1DFC3D99274}"/>
              </a:ext>
            </a:extLst>
          </p:cNvPr>
          <p:cNvGraphicFramePr/>
          <p:nvPr>
            <p:extLst>
              <p:ext uri="{D42A27DB-BD31-4B8C-83A1-F6EECF244321}">
                <p14:modId xmlns:p14="http://schemas.microsoft.com/office/powerpoint/2010/main" val="2223105707"/>
              </p:ext>
            </p:extLst>
          </p:nvPr>
        </p:nvGraphicFramePr>
        <p:xfrm>
          <a:off x="612648" y="1417320"/>
          <a:ext cx="10972800" cy="1676280"/>
        </p:xfrm>
        <a:graphic>
          <a:graphicData uri="http://schemas.openxmlformats.org/drawingml/2006/table">
            <a:tbl>
              <a:tblPr/>
              <a:tblGrid>
                <a:gridCol w="23774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365720">
                <a:tc>
                  <a:txBody>
                    <a:bodyPr/>
                    <a:lstStyle/>
                    <a:p>
                      <a:pPr marL="0" indent="0" algn="l">
                        <a:buNone/>
                      </a:pPr>
                      <a:r>
                        <a:rPr sz="1600" b="1">
                          <a:solidFill>
                            <a:schemeClr val="bg1"/>
                          </a:solidFill>
                        </a:rPr>
                        <a:t>Outil</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tx1"/>
                    </a:solidFill>
                  </a:tcPr>
                </a:tc>
                <a:tc>
                  <a:txBody>
                    <a:bodyPr/>
                    <a:lstStyle/>
                    <a:p>
                      <a:pPr marL="0" indent="0" algn="l">
                        <a:buNone/>
                      </a:pPr>
                      <a:r>
                        <a:rPr sz="1600" b="1">
                          <a:solidFill>
                            <a:schemeClr val="bg1"/>
                          </a:solidFill>
                        </a:rPr>
                        <a:t>Utilisé pour</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tx1"/>
                    </a:solidFill>
                  </a:tcPr>
                </a:tc>
                <a:tc>
                  <a:txBody>
                    <a:bodyPr/>
                    <a:lstStyle/>
                    <a:p>
                      <a:pPr marL="0" indent="0" algn="l">
                        <a:buNone/>
                      </a:pPr>
                      <a:r>
                        <a:rPr sz="1600" b="1">
                          <a:solidFill>
                            <a:schemeClr val="bg1"/>
                          </a:solidFill>
                        </a:rPr>
                        <a:t>Notre avis</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tx1"/>
                    </a:solidFill>
                  </a:tcPr>
                </a:tc>
                <a:extLst>
                  <a:ext uri="{0D108BD9-81ED-4DB2-BD59-A6C34878D82A}">
                    <a16:rowId xmlns:a16="http://schemas.microsoft.com/office/drawing/2014/main" val="10000"/>
                  </a:ext>
                </a:extLst>
              </a:tr>
              <a:tr h="386037">
                <a:tc>
                  <a:txBody>
                    <a:bodyPr/>
                    <a:lstStyle/>
                    <a:p>
                      <a:pPr marL="0" indent="0">
                        <a:buNone/>
                      </a:pPr>
                      <a:r>
                        <a:rPr sz="1600" i="1">
                          <a:solidFill>
                            <a:schemeClr val="accent5"/>
                          </a:solidFill>
                        </a:rPr>
                        <a:t>ChatGPT via Codex</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2"/>
                    </a:solidFill>
                  </a:tcPr>
                </a:tc>
                <a:tc>
                  <a:txBody>
                    <a:bodyPr/>
                    <a:lstStyle/>
                    <a:p>
                      <a:pPr marL="0" indent="0">
                        <a:buNone/>
                      </a:pPr>
                      <a:r>
                        <a:rPr sz="1600" i="1">
                          <a:solidFill>
                            <a:schemeClr val="accent5"/>
                          </a:solidFill>
                        </a:rPr>
                        <a:t>Clarifier les besoins, écrire et corriger le code Python</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2"/>
                    </a:solidFill>
                  </a:tcPr>
                </a:tc>
                <a:tc>
                  <a:txBody>
                    <a:bodyPr/>
                    <a:lstStyle/>
                    <a:p>
                      <a:pPr marL="0" indent="0">
                        <a:buNone/>
                      </a:pPr>
                      <a:r>
                        <a:rPr sz="1600" i="1">
                          <a:solidFill>
                            <a:schemeClr val="accent5"/>
                          </a:solidFill>
                        </a:rPr>
                        <a:t>Utile pour expliquer et itérer ; le code et les changements visibles doivent être vérifiés.</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2"/>
                    </a:solidFill>
                  </a:tcPr>
                </a:tc>
                <a:extLst>
                  <a:ext uri="{0D108BD9-81ED-4DB2-BD59-A6C34878D82A}">
                    <a16:rowId xmlns:a16="http://schemas.microsoft.com/office/drawing/2014/main" val="10001"/>
                  </a:ext>
                </a:extLst>
              </a:tr>
              <a:tr h="365720">
                <a:tc>
                  <a:txBody>
                    <a:bodyPr/>
                    <a:lstStyle/>
                    <a:p>
                      <a:pPr marL="0" indent="0">
                        <a:buNone/>
                      </a:pPr>
                      <a:endParaRPr sz="1600" dirty="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1"/>
                    </a:solidFill>
                  </a:tcPr>
                </a:tc>
                <a:tc>
                  <a:txBody>
                    <a:bodyPr/>
                    <a:lstStyle/>
                    <a:p>
                      <a:pPr marL="0" indent="0">
                        <a:buNone/>
                      </a:pPr>
                      <a:endParaRPr sz="1600" dirty="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1"/>
                    </a:solidFill>
                  </a:tcPr>
                </a:tc>
                <a:tc>
                  <a:txBody>
                    <a:bodyPr/>
                    <a:lstStyle/>
                    <a:p>
                      <a:pPr marL="0" indent="0">
                        <a:buNone/>
                      </a:pP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1"/>
                    </a:solidFill>
                  </a:tcPr>
                </a:tc>
                <a:extLst>
                  <a:ext uri="{0D108BD9-81ED-4DB2-BD59-A6C34878D82A}">
                    <a16:rowId xmlns:a16="http://schemas.microsoft.com/office/drawing/2014/main" val="10002"/>
                  </a:ext>
                </a:extLst>
              </a:tr>
              <a:tr h="365720">
                <a:tc>
                  <a:txBody>
                    <a:bodyPr/>
                    <a:lstStyle/>
                    <a:p>
                      <a:pPr marL="0" indent="0">
                        <a:buNone/>
                      </a:pPr>
                      <a:endParaRPr sz="1600" dirty="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2"/>
                    </a:solidFill>
                  </a:tcPr>
                </a:tc>
                <a:tc>
                  <a:txBody>
                    <a:bodyPr/>
                    <a:lstStyle/>
                    <a:p>
                      <a:pPr marL="0" indent="0">
                        <a:buNone/>
                      </a:pPr>
                      <a:endParaRPr sz="1600" dirty="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2"/>
                    </a:solidFill>
                  </a:tcPr>
                </a:tc>
                <a:tc>
                  <a:txBody>
                    <a:bodyPr/>
                    <a:lstStyle/>
                    <a:p>
                      <a:pPr marL="0" indent="0">
                        <a:buNone/>
                      </a:pPr>
                      <a:endParaRPr sz="1600" dirty="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2"/>
                    </a:solidFill>
                  </a:tcPr>
                </a:tc>
                <a:extLst>
                  <a:ext uri="{0D108BD9-81ED-4DB2-BD59-A6C34878D82A}">
                    <a16:rowId xmlns:a16="http://schemas.microsoft.com/office/drawing/2014/main" val="10003"/>
                  </a:ext>
                </a:extLst>
              </a:tr>
            </a:tbl>
          </a:graphicData>
        </a:graphic>
      </p:graphicFrame>
      <p:sp>
        <p:nvSpPr>
          <p:cNvPr id="4" name="carte-55">
            <a:extLst>
              <a:ext uri="{FF2B5EF4-FFF2-40B4-BE49-F238E27FC236}">
                <a16:creationId xmlns:a16="http://schemas.microsoft.com/office/drawing/2014/main" id="{054F96A5-2339-400D-AA98-AAC5CEE131E4}"/>
              </a:ext>
            </a:extLst>
          </p:cNvPr>
          <p:cNvSpPr>
            <a:spLocks noGrp="1"/>
          </p:cNvSpPr>
          <p:nvPr/>
        </p:nvSpPr>
        <p:spPr>
          <a:xfrm>
            <a:off x="612648" y="3931920"/>
            <a:ext cx="10972800" cy="1874520"/>
          </a:xfrm>
          <a:prstGeom prst="roundRect">
            <a:avLst>
              <a:gd name="adj" fmla="val 5854"/>
            </a:avLst>
          </a:prstGeom>
          <a:solidFill>
            <a:schemeClr val="bg2"/>
          </a:solidFill>
        </p:spPr>
      </p:sp>
      <p:sp>
        <p:nvSpPr>
          <p:cNvPr id="5" name="pastille-56">
            <a:extLst>
              <a:ext uri="{FF2B5EF4-FFF2-40B4-BE49-F238E27FC236}">
                <a16:creationId xmlns:a16="http://schemas.microsoft.com/office/drawing/2014/main" id="{7A64F237-A6CA-42F4-B1CE-D88F33B8209F}"/>
              </a:ext>
            </a:extLst>
          </p:cNvPr>
          <p:cNvSpPr>
            <a:spLocks noGrp="1"/>
          </p:cNvSpPr>
          <p:nvPr/>
        </p:nvSpPr>
        <p:spPr>
          <a:xfrm>
            <a:off x="886968" y="4160520"/>
            <a:ext cx="685800" cy="685800"/>
          </a:xfrm>
          <a:prstGeom prst="ellipse">
            <a:avLst/>
          </a:prstGeom>
          <a:solidFill>
            <a:schemeClr val="accent3"/>
          </a:solidFill>
        </p:spPr>
      </p:sp>
      <p:pic>
        <p:nvPicPr>
          <p:cNvPr id="6" name="icone-57">
            <a:extLst>
              <a:ext uri="{FF2B5EF4-FFF2-40B4-BE49-F238E27FC236}">
                <a16:creationId xmlns:a16="http://schemas.microsoft.com/office/drawing/2014/main" id="{D358ED18-7C78-46F4-9103-2215875EDC76}"/>
              </a:ext>
            </a:extLst>
          </p:cNvPr>
          <p:cNvPicPr>
            <a:picLocks noChangeAspect="1"/>
          </p:cNvPicPr>
          <p:nvPr/>
        </p:nvPicPr>
        <p:blipFill>
          <a:blip r:embed="rId3"/>
          <a:stretch>
            <a:fillRect/>
          </a:stretch>
        </p:blipFill>
        <p:spPr>
          <a:xfrm>
            <a:off x="1072134" y="4345686"/>
            <a:ext cx="315468" cy="315468"/>
          </a:xfrm>
          <a:prstGeom prst="rect">
            <a:avLst/>
          </a:prstGeom>
        </p:spPr>
      </p:pic>
      <p:sp>
        <p:nvSpPr>
          <p:cNvPr id="26" name="texte-58">
            <a:extLst>
              <a:ext uri="{FF2B5EF4-FFF2-40B4-BE49-F238E27FC236}">
                <a16:creationId xmlns:a16="http://schemas.microsoft.com/office/drawing/2014/main" id="{ECD05722-4E83-4089-87D7-681235C0762B}"/>
              </a:ext>
            </a:extLst>
          </p:cNvPr>
          <p:cNvSpPr>
            <a:spLocks noGrp="1"/>
          </p:cNvSpPr>
          <p:nvPr/>
        </p:nvSpPr>
        <p:spPr>
          <a:xfrm>
            <a:off x="1755648" y="4160520"/>
            <a:ext cx="9509760" cy="457200"/>
          </a:xfrm>
          <a:prstGeom prst="rect">
            <a:avLst/>
          </a:prstGeom>
          <a:noFill/>
        </p:spPr>
        <p:txBody>
          <a:bodyPr wrap="square" lIns="0" tIns="0" rIns="0" bIns="0" anchor="t"/>
          <a:lstStyle/>
          <a:p>
            <a:pPr marL="0" indent="0">
              <a:buNone/>
            </a:pPr>
            <a:r>
              <a:rPr sz="1800" b="1">
                <a:solidFill>
                  <a:schemeClr val="tx1"/>
                </a:solidFill>
              </a:rPr>
              <a:t>Notre meilleur prompt</a:t>
            </a:r>
            <a:endParaRPr sz="1800"/>
          </a:p>
        </p:txBody>
      </p:sp>
      <p:sp>
        <p:nvSpPr>
          <p:cNvPr id="8" name="Text 15">
            <a:extLst>
              <a:ext uri="{FF2B5EF4-FFF2-40B4-BE49-F238E27FC236}">
                <a16:creationId xmlns:a16="http://schemas.microsoft.com/office/drawing/2014/main" id="{D8B4F42A-3922-4C8F-80AE-A7DFB9766121}"/>
              </a:ext>
            </a:extLst>
          </p:cNvPr>
          <p:cNvSpPr>
            <a:spLocks noGrp="1"/>
          </p:cNvSpPr>
          <p:nvPr/>
        </p:nvSpPr>
        <p:spPr>
          <a:xfrm>
            <a:off x="1755648" y="4663440"/>
            <a:ext cx="9509760" cy="1005840"/>
          </a:xfrm>
          <a:prstGeom prst="rect">
            <a:avLst/>
          </a:prstGeom>
          <a:noFill/>
        </p:spPr>
        <p:txBody>
          <a:bodyPr wrap="square" lIns="0" tIns="0" rIns="0" bIns="0" anchor="ctr"/>
          <a:lstStyle/>
          <a:p>
            <a:pPr marL="0" indent="0">
              <a:buNone/>
            </a:pPr>
            <a:r>
              <a:rPr sz="1600" i="1">
                <a:solidFill>
                  <a:schemeClr val="accent5"/>
                </a:solidFill>
              </a:rPr>
              <a:t>« maintenant on veux avoir les bulltin individuel et l'option de modification et supprission au niveau eleve »</a:t>
            </a:r>
            <a:endParaRPr sz="1600"/>
          </a:p>
        </p:txBody>
      </p:sp>
      <p:sp>
        <p:nvSpPr>
          <p:cNvPr id="25" name="Slide Number Placeholder 0">
            <a:extLst>
              <a:ext uri="{FF2B5EF4-FFF2-40B4-BE49-F238E27FC236}">
                <a16:creationId xmlns:a16="http://schemas.microsoft.com/office/drawing/2014/main" id="{C722FF1E-85E0-4314-9152-9C39D37F5F7D}"/>
              </a:ext>
            </a:extLst>
          </p:cNvPr>
          <p:cNvSpPr>
            <a:spLocks noGrp="1"/>
          </p:cNvSpPr>
          <p:nvPr>
            <p:ph type="sldNum" idx="4294967295"/>
          </p:nvPr>
        </p:nvSpPr>
        <p:spPr>
          <a:xfrm>
            <a:off x="11109960" y="6382512"/>
            <a:ext cx="457200" cy="274320"/>
          </a:xfrm>
          <a:prstGeom prst="rect">
            <a:avLst/>
          </a:prstGeom>
        </p:spPr>
        <p:txBody>
          <a:bodyPr/>
          <a:lstStyle>
            <a:lvl1pPr>
              <a:buNone/>
              <a:defRPr sz="1000">
                <a:solidFill>
                  <a:schemeClr val="accent6"/>
                </a:solidFill>
              </a:defRPr>
            </a:lvl1pPr>
          </a:lstStyle>
          <a:p>
            <a:pPr algn="r">
              <a:buNone/>
            </a:pPr>
            <a:fld id="{F7021451-1387-4CA6-816F-3879F97B5CBC}" type="slidenum">
              <a:rPr b="0"/>
              <a:t>6</a:t>
            </a:fld>
            <a:endParaRPr/>
          </a:p>
        </p:txBody>
      </p:sp>
    </p:spTree>
    <p:extLst>
      <p:ext uri="{BB962C8B-B14F-4D97-AF65-F5344CB8AC3E}">
        <p14:creationId xmlns:p14="http://schemas.microsoft.com/office/powerpoint/2010/main" val="821830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F53D6D-0B91-4509-AF7E-DC5A45671997}"/>
              </a:ext>
            </a:extLst>
          </p:cNvPr>
          <p:cNvSpPr>
            <a:spLocks noGrp="1"/>
          </p:cNvSpPr>
          <p:nvPr>
            <p:ph type="title" idx="100" hasCustomPrompt="1"/>
          </p:nvPr>
        </p:nvSpPr>
        <p:spPr>
          <a:xfrm>
            <a:off x="612648" y="384048"/>
            <a:ext cx="10972800" cy="777240"/>
          </a:xfrm>
          <a:prstGeom prst="rect">
            <a:avLst/>
          </a:prstGeom>
          <a:noFill/>
        </p:spPr>
        <p:txBody>
          <a:bodyPr wrap="square" lIns="0" tIns="0" rIns="0" bIns="0" anchor="ctr"/>
          <a:lstStyle/>
          <a:p>
            <a:pPr marL="0" indent="0" algn="l">
              <a:buNone/>
            </a:pPr>
            <a:r>
              <a:rPr sz="3400" b="1" dirty="0" err="1">
                <a:solidFill>
                  <a:schemeClr val="tx1"/>
                </a:solidFill>
              </a:rPr>
              <a:t>Une</a:t>
            </a:r>
            <a:r>
              <a:rPr sz="3400" b="1" dirty="0">
                <a:solidFill>
                  <a:schemeClr val="tx1"/>
                </a:solidFill>
              </a:rPr>
              <a:t> </a:t>
            </a:r>
            <a:r>
              <a:rPr sz="3400" b="1" dirty="0" err="1">
                <a:solidFill>
                  <a:schemeClr val="tx1"/>
                </a:solidFill>
              </a:rPr>
              <a:t>difficulté</a:t>
            </a:r>
            <a:r>
              <a:rPr sz="3400" b="1" dirty="0">
                <a:solidFill>
                  <a:schemeClr val="tx1"/>
                </a:solidFill>
              </a:rPr>
              <a:t> </a:t>
            </a:r>
            <a:r>
              <a:rPr sz="3400" b="1" dirty="0" err="1">
                <a:solidFill>
                  <a:schemeClr val="tx1"/>
                </a:solidFill>
              </a:rPr>
              <a:t>rencontrée</a:t>
            </a:r>
            <a:endParaRPr sz="3400" dirty="0"/>
          </a:p>
        </p:txBody>
      </p:sp>
      <p:sp>
        <p:nvSpPr>
          <p:cNvPr id="3" name="carte-60">
            <a:extLst>
              <a:ext uri="{FF2B5EF4-FFF2-40B4-BE49-F238E27FC236}">
                <a16:creationId xmlns:a16="http://schemas.microsoft.com/office/drawing/2014/main" id="{7D2A5BD0-9537-4721-97E0-336C7D162602}"/>
              </a:ext>
            </a:extLst>
          </p:cNvPr>
          <p:cNvSpPr>
            <a:spLocks noGrp="1"/>
          </p:cNvSpPr>
          <p:nvPr/>
        </p:nvSpPr>
        <p:spPr>
          <a:xfrm>
            <a:off x="612648" y="1417320"/>
            <a:ext cx="3474720" cy="4023360"/>
          </a:xfrm>
          <a:prstGeom prst="roundRect">
            <a:avLst>
              <a:gd name="adj" fmla="val 3158"/>
            </a:avLst>
          </a:prstGeom>
          <a:solidFill>
            <a:schemeClr val="bg1"/>
          </a:solidFill>
          <a:ln w="9525">
            <a:solidFill>
              <a:srgbClr val="E3E6EE"/>
            </a:solidFill>
            <a:prstDash val="solid"/>
          </a:ln>
          <a:effectLst>
            <a:outerShdw blurRad="101600" dist="25400" dir="5400000" algn="bl" rotWithShape="0">
              <a:srgbClr val="000000">
                <a:alpha val="8000"/>
              </a:srgbClr>
            </a:outerShdw>
          </a:effectLst>
        </p:spPr>
      </p:sp>
      <p:sp>
        <p:nvSpPr>
          <p:cNvPr id="4" name="texte-61">
            <a:extLst>
              <a:ext uri="{FF2B5EF4-FFF2-40B4-BE49-F238E27FC236}">
                <a16:creationId xmlns:a16="http://schemas.microsoft.com/office/drawing/2014/main" id="{9469A745-1D3F-4D9C-81C6-51086DF7E105}"/>
              </a:ext>
            </a:extLst>
          </p:cNvPr>
          <p:cNvSpPr>
            <a:spLocks noGrp="1"/>
          </p:cNvSpPr>
          <p:nvPr/>
        </p:nvSpPr>
        <p:spPr>
          <a:xfrm>
            <a:off x="886968" y="1554480"/>
            <a:ext cx="2926080" cy="457200"/>
          </a:xfrm>
          <a:prstGeom prst="rect">
            <a:avLst/>
          </a:prstGeom>
          <a:noFill/>
        </p:spPr>
        <p:txBody>
          <a:bodyPr wrap="square" lIns="0" tIns="0" rIns="0" bIns="0" anchor="t"/>
          <a:lstStyle/>
          <a:p>
            <a:pPr marL="0" indent="0">
              <a:buNone/>
            </a:pPr>
            <a:r>
              <a:rPr sz="1800" b="1">
                <a:solidFill>
                  <a:schemeClr val="accent1"/>
                </a:solidFill>
              </a:rPr>
              <a:t>Ce que l’IA a proposé</a:t>
            </a:r>
            <a:endParaRPr sz="1800"/>
          </a:p>
        </p:txBody>
      </p:sp>
      <p:sp>
        <p:nvSpPr>
          <p:cNvPr id="5" name="bloc-code-62">
            <a:extLst>
              <a:ext uri="{FF2B5EF4-FFF2-40B4-BE49-F238E27FC236}">
                <a16:creationId xmlns:a16="http://schemas.microsoft.com/office/drawing/2014/main" id="{C892E26E-06E7-47A1-A42C-3CB999CEEA21}"/>
              </a:ext>
            </a:extLst>
          </p:cNvPr>
          <p:cNvSpPr>
            <a:spLocks noGrp="1"/>
          </p:cNvSpPr>
          <p:nvPr/>
        </p:nvSpPr>
        <p:spPr>
          <a:xfrm>
            <a:off x="886968" y="2103120"/>
            <a:ext cx="2926080" cy="3108960"/>
          </a:xfrm>
          <a:prstGeom prst="roundRect">
            <a:avLst>
              <a:gd name="adj" fmla="val 3125"/>
            </a:avLst>
          </a:prstGeom>
          <a:solidFill>
            <a:schemeClr val="tx1"/>
          </a:solidFill>
        </p:spPr>
      </p:sp>
      <p:sp>
        <p:nvSpPr>
          <p:cNvPr id="6" name="texte-63">
            <a:extLst>
              <a:ext uri="{FF2B5EF4-FFF2-40B4-BE49-F238E27FC236}">
                <a16:creationId xmlns:a16="http://schemas.microsoft.com/office/drawing/2014/main" id="{44F4A145-F0FD-4BAC-B0B8-7BEE5DADAE07}"/>
              </a:ext>
            </a:extLst>
          </p:cNvPr>
          <p:cNvSpPr>
            <a:spLocks noGrp="1"/>
          </p:cNvSpPr>
          <p:nvPr/>
        </p:nvSpPr>
        <p:spPr>
          <a:xfrm>
            <a:off x="1069848" y="2240280"/>
            <a:ext cx="2560320" cy="2834640"/>
          </a:xfrm>
          <a:prstGeom prst="rect">
            <a:avLst/>
          </a:prstGeom>
          <a:noFill/>
        </p:spPr>
        <p:txBody>
          <a:bodyPr wrap="square" lIns="0" tIns="0" rIns="0" bIns="0" anchor="t"/>
          <a:lstStyle/>
          <a:p>
            <a:pPr marL="0" indent="0">
              <a:buNone/>
            </a:pPr>
            <a:r>
              <a:rPr sz="1400" i="1">
                <a:solidFill>
                  <a:schemeClr val="accent5"/>
                </a:solidFill>
                <a:latin typeface="Courier New"/>
                <a:ea typeface="Courier New"/>
                <a:cs typeface="Courier New"/>
              </a:rPr>
              <a:t>Le code avait été modifié, mais les changements n’étaient pas visibles dans l’application lancée.</a:t>
            </a:r>
            <a:endParaRPr sz="1400"/>
          </a:p>
        </p:txBody>
      </p:sp>
      <p:sp>
        <p:nvSpPr>
          <p:cNvPr id="7" name="carte-64">
            <a:extLst>
              <a:ext uri="{FF2B5EF4-FFF2-40B4-BE49-F238E27FC236}">
                <a16:creationId xmlns:a16="http://schemas.microsoft.com/office/drawing/2014/main" id="{2B5C4101-9C28-4EE5-8255-9AAC8ED7B86A}"/>
              </a:ext>
            </a:extLst>
          </p:cNvPr>
          <p:cNvSpPr>
            <a:spLocks noGrp="1"/>
          </p:cNvSpPr>
          <p:nvPr/>
        </p:nvSpPr>
        <p:spPr>
          <a:xfrm>
            <a:off x="4361688" y="1417320"/>
            <a:ext cx="3474720" cy="4023360"/>
          </a:xfrm>
          <a:prstGeom prst="roundRect">
            <a:avLst>
              <a:gd name="adj" fmla="val 3158"/>
            </a:avLst>
          </a:prstGeom>
          <a:solidFill>
            <a:schemeClr val="bg1"/>
          </a:solidFill>
          <a:ln w="9525">
            <a:solidFill>
              <a:srgbClr val="E3E6EE"/>
            </a:solidFill>
            <a:prstDash val="solid"/>
          </a:ln>
          <a:effectLst>
            <a:outerShdw blurRad="101600" dist="25400" dir="5400000" algn="bl" rotWithShape="0">
              <a:srgbClr val="000000">
                <a:alpha val="8000"/>
              </a:srgbClr>
            </a:outerShdw>
          </a:effectLst>
        </p:spPr>
      </p:sp>
      <p:sp>
        <p:nvSpPr>
          <p:cNvPr id="8" name="pastille-65">
            <a:extLst>
              <a:ext uri="{FF2B5EF4-FFF2-40B4-BE49-F238E27FC236}">
                <a16:creationId xmlns:a16="http://schemas.microsoft.com/office/drawing/2014/main" id="{6C61AFA9-0938-4728-8FC3-5F3FF631F85C}"/>
              </a:ext>
            </a:extLst>
          </p:cNvPr>
          <p:cNvSpPr>
            <a:spLocks noGrp="1"/>
          </p:cNvSpPr>
          <p:nvPr/>
        </p:nvSpPr>
        <p:spPr>
          <a:xfrm>
            <a:off x="4636008" y="1691640"/>
            <a:ext cx="685800" cy="685800"/>
          </a:xfrm>
          <a:prstGeom prst="ellipse">
            <a:avLst/>
          </a:prstGeom>
          <a:solidFill>
            <a:schemeClr val="accent3"/>
          </a:solidFill>
        </p:spPr>
      </p:sp>
      <p:pic>
        <p:nvPicPr>
          <p:cNvPr id="9" name="icone-66">
            <a:extLst>
              <a:ext uri="{FF2B5EF4-FFF2-40B4-BE49-F238E27FC236}">
                <a16:creationId xmlns:a16="http://schemas.microsoft.com/office/drawing/2014/main" id="{DE19520A-1820-4EB8-9F52-B6C9064A935A}"/>
              </a:ext>
            </a:extLst>
          </p:cNvPr>
          <p:cNvPicPr>
            <a:picLocks noChangeAspect="1"/>
          </p:cNvPicPr>
          <p:nvPr/>
        </p:nvPicPr>
        <p:blipFill>
          <a:blip r:embed="rId3"/>
          <a:stretch>
            <a:fillRect/>
          </a:stretch>
        </p:blipFill>
        <p:spPr>
          <a:xfrm>
            <a:off x="4821174" y="1876806"/>
            <a:ext cx="315468" cy="315468"/>
          </a:xfrm>
          <a:prstGeom prst="rect">
            <a:avLst/>
          </a:prstGeom>
        </p:spPr>
      </p:pic>
      <p:sp>
        <p:nvSpPr>
          <p:cNvPr id="10" name="texte-67">
            <a:extLst>
              <a:ext uri="{FF2B5EF4-FFF2-40B4-BE49-F238E27FC236}">
                <a16:creationId xmlns:a16="http://schemas.microsoft.com/office/drawing/2014/main" id="{DEBA5D75-2DAC-4BD6-BD75-F5479193242A}"/>
              </a:ext>
            </a:extLst>
          </p:cNvPr>
          <p:cNvSpPr>
            <a:spLocks noGrp="1"/>
          </p:cNvSpPr>
          <p:nvPr/>
        </p:nvSpPr>
        <p:spPr>
          <a:xfrm>
            <a:off x="5504688" y="1691640"/>
            <a:ext cx="2103120" cy="685800"/>
          </a:xfrm>
          <a:prstGeom prst="rect">
            <a:avLst/>
          </a:prstGeom>
          <a:noFill/>
        </p:spPr>
        <p:txBody>
          <a:bodyPr wrap="square" lIns="0" tIns="0" rIns="0" bIns="0" anchor="ctr"/>
          <a:lstStyle/>
          <a:p>
            <a:pPr marL="0" indent="0">
              <a:buNone/>
            </a:pPr>
            <a:r>
              <a:rPr sz="1900" b="1">
                <a:solidFill>
                  <a:schemeClr val="tx1"/>
                </a:solidFill>
              </a:rPr>
              <a:t>Comment nous l’avons vue</a:t>
            </a:r>
            <a:endParaRPr sz="1900"/>
          </a:p>
        </p:txBody>
      </p:sp>
      <p:sp>
        <p:nvSpPr>
          <p:cNvPr id="11" name="Text 15">
            <a:extLst>
              <a:ext uri="{FF2B5EF4-FFF2-40B4-BE49-F238E27FC236}">
                <a16:creationId xmlns:a16="http://schemas.microsoft.com/office/drawing/2014/main" id="{26866558-AADC-434F-8EFF-1BED32CF7003}"/>
              </a:ext>
            </a:extLst>
          </p:cNvPr>
          <p:cNvSpPr>
            <a:spLocks noGrp="1"/>
          </p:cNvSpPr>
          <p:nvPr/>
        </p:nvSpPr>
        <p:spPr>
          <a:xfrm>
            <a:off x="4636008" y="2560320"/>
            <a:ext cx="2926080" cy="2743200"/>
          </a:xfrm>
          <a:prstGeom prst="rect">
            <a:avLst/>
          </a:prstGeom>
          <a:noFill/>
        </p:spPr>
        <p:txBody>
          <a:bodyPr wrap="square" lIns="0" tIns="0" rIns="0" bIns="0" anchor="ctr"/>
          <a:lstStyle/>
          <a:p>
            <a:pPr marL="0" indent="0">
              <a:buNone/>
            </a:pPr>
            <a:r>
              <a:rPr sz="1550" i="1">
                <a:solidFill>
                  <a:schemeClr val="accent5"/>
                </a:solidFill>
              </a:rPr>
              <a:t>L’équipe a signalé plusieurs fois que les boutons et couleurs demandés n’apparaissaient pas.</a:t>
            </a:r>
            <a:endParaRPr sz="1550"/>
          </a:p>
        </p:txBody>
      </p:sp>
      <p:sp>
        <p:nvSpPr>
          <p:cNvPr id="12" name="carte-69">
            <a:extLst>
              <a:ext uri="{FF2B5EF4-FFF2-40B4-BE49-F238E27FC236}">
                <a16:creationId xmlns:a16="http://schemas.microsoft.com/office/drawing/2014/main" id="{1A3132A9-EC07-4CE1-8A26-0C5FDB38123C}"/>
              </a:ext>
            </a:extLst>
          </p:cNvPr>
          <p:cNvSpPr>
            <a:spLocks noGrp="1"/>
          </p:cNvSpPr>
          <p:nvPr/>
        </p:nvSpPr>
        <p:spPr>
          <a:xfrm>
            <a:off x="8110728" y="1417320"/>
            <a:ext cx="3474720" cy="4023360"/>
          </a:xfrm>
          <a:prstGeom prst="roundRect">
            <a:avLst>
              <a:gd name="adj" fmla="val 3158"/>
            </a:avLst>
          </a:prstGeom>
          <a:solidFill>
            <a:schemeClr val="bg1"/>
          </a:solidFill>
          <a:ln w="9525">
            <a:solidFill>
              <a:srgbClr val="E3E6EE"/>
            </a:solidFill>
            <a:prstDash val="solid"/>
          </a:ln>
          <a:effectLst>
            <a:outerShdw blurRad="101600" dist="25400" dir="5400000" algn="bl" rotWithShape="0">
              <a:srgbClr val="000000">
                <a:alpha val="8000"/>
              </a:srgbClr>
            </a:outerShdw>
          </a:effectLst>
        </p:spPr>
      </p:sp>
      <p:sp>
        <p:nvSpPr>
          <p:cNvPr id="13" name="pastille-70">
            <a:extLst>
              <a:ext uri="{FF2B5EF4-FFF2-40B4-BE49-F238E27FC236}">
                <a16:creationId xmlns:a16="http://schemas.microsoft.com/office/drawing/2014/main" id="{676B050D-02B4-4663-B13D-E43678BDFED9}"/>
              </a:ext>
            </a:extLst>
          </p:cNvPr>
          <p:cNvSpPr>
            <a:spLocks noGrp="1"/>
          </p:cNvSpPr>
          <p:nvPr/>
        </p:nvSpPr>
        <p:spPr>
          <a:xfrm>
            <a:off x="8385048" y="1691640"/>
            <a:ext cx="685800" cy="685800"/>
          </a:xfrm>
          <a:prstGeom prst="ellipse">
            <a:avLst/>
          </a:prstGeom>
          <a:solidFill>
            <a:schemeClr val="accent2"/>
          </a:solidFill>
        </p:spPr>
      </p:sp>
      <p:pic>
        <p:nvPicPr>
          <p:cNvPr id="14" name="icone-71">
            <a:extLst>
              <a:ext uri="{FF2B5EF4-FFF2-40B4-BE49-F238E27FC236}">
                <a16:creationId xmlns:a16="http://schemas.microsoft.com/office/drawing/2014/main" id="{2B3D432C-7EE1-49D3-8047-4B3000A0B222}"/>
              </a:ext>
            </a:extLst>
          </p:cNvPr>
          <p:cNvPicPr>
            <a:picLocks noChangeAspect="1"/>
          </p:cNvPicPr>
          <p:nvPr/>
        </p:nvPicPr>
        <p:blipFill>
          <a:blip r:embed="rId4"/>
          <a:stretch>
            <a:fillRect/>
          </a:stretch>
        </p:blipFill>
        <p:spPr>
          <a:xfrm>
            <a:off x="8570214" y="1876806"/>
            <a:ext cx="315468" cy="315468"/>
          </a:xfrm>
          <a:prstGeom prst="rect">
            <a:avLst/>
          </a:prstGeom>
        </p:spPr>
      </p:pic>
      <p:sp>
        <p:nvSpPr>
          <p:cNvPr id="15" name="texte-72">
            <a:extLst>
              <a:ext uri="{FF2B5EF4-FFF2-40B4-BE49-F238E27FC236}">
                <a16:creationId xmlns:a16="http://schemas.microsoft.com/office/drawing/2014/main" id="{06337342-8699-41FA-BC76-DCA9547D4115}"/>
              </a:ext>
            </a:extLst>
          </p:cNvPr>
          <p:cNvSpPr>
            <a:spLocks noGrp="1"/>
          </p:cNvSpPr>
          <p:nvPr/>
        </p:nvSpPr>
        <p:spPr>
          <a:xfrm>
            <a:off x="9253728" y="1691640"/>
            <a:ext cx="2103120" cy="685800"/>
          </a:xfrm>
          <a:prstGeom prst="rect">
            <a:avLst/>
          </a:prstGeom>
          <a:noFill/>
        </p:spPr>
        <p:txBody>
          <a:bodyPr wrap="square" lIns="0" tIns="0" rIns="0" bIns="0" anchor="ctr"/>
          <a:lstStyle/>
          <a:p>
            <a:pPr marL="0" indent="0">
              <a:buNone/>
            </a:pPr>
            <a:r>
              <a:rPr sz="1900" b="1">
                <a:solidFill>
                  <a:schemeClr val="tx1"/>
                </a:solidFill>
              </a:rPr>
              <a:t>Notre correction</a:t>
            </a:r>
            <a:endParaRPr sz="1900"/>
          </a:p>
        </p:txBody>
      </p:sp>
      <p:sp>
        <p:nvSpPr>
          <p:cNvPr id="16" name="Text 15">
            <a:extLst>
              <a:ext uri="{FF2B5EF4-FFF2-40B4-BE49-F238E27FC236}">
                <a16:creationId xmlns:a16="http://schemas.microsoft.com/office/drawing/2014/main" id="{EEAB0BA8-2AEC-4A5F-8078-42316D08C26A}"/>
              </a:ext>
            </a:extLst>
          </p:cNvPr>
          <p:cNvSpPr>
            <a:spLocks noGrp="1"/>
          </p:cNvSpPr>
          <p:nvPr/>
        </p:nvSpPr>
        <p:spPr>
          <a:xfrm>
            <a:off x="8385048" y="2560320"/>
            <a:ext cx="2926080" cy="2743200"/>
          </a:xfrm>
          <a:prstGeom prst="rect">
            <a:avLst/>
          </a:prstGeom>
          <a:noFill/>
        </p:spPr>
        <p:txBody>
          <a:bodyPr wrap="square" lIns="0" tIns="0" rIns="0" bIns="0" anchor="ctr"/>
          <a:lstStyle/>
          <a:p>
            <a:pPr marL="0" indent="0">
              <a:buNone/>
            </a:pPr>
            <a:r>
              <a:rPr sz="1550" i="1">
                <a:solidFill>
                  <a:schemeClr val="accent5"/>
                </a:solidFill>
              </a:rPr>
              <a:t>Une nouvelle version a été reconstruite sous un nom distinct : « Sabiloul Houda - Bulletins.exe ». Fermer l’ancienne application avant d’ouvrir ce fichier.</a:t>
            </a:r>
            <a:endParaRPr sz="1550"/>
          </a:p>
        </p:txBody>
      </p:sp>
      <p:sp>
        <p:nvSpPr>
          <p:cNvPr id="25" name="Slide Number Placeholder 0">
            <a:extLst>
              <a:ext uri="{FF2B5EF4-FFF2-40B4-BE49-F238E27FC236}">
                <a16:creationId xmlns:a16="http://schemas.microsoft.com/office/drawing/2014/main" id="{D63A9FD4-458D-47F7-B1FF-B5741A370E49}"/>
              </a:ext>
            </a:extLst>
          </p:cNvPr>
          <p:cNvSpPr>
            <a:spLocks noGrp="1"/>
          </p:cNvSpPr>
          <p:nvPr>
            <p:ph type="sldNum" idx="4294967295"/>
          </p:nvPr>
        </p:nvSpPr>
        <p:spPr>
          <a:xfrm>
            <a:off x="11109960" y="6382512"/>
            <a:ext cx="457200" cy="274320"/>
          </a:xfrm>
          <a:prstGeom prst="rect">
            <a:avLst/>
          </a:prstGeom>
        </p:spPr>
        <p:txBody>
          <a:bodyPr/>
          <a:lstStyle>
            <a:lvl1pPr>
              <a:buNone/>
              <a:defRPr sz="1000">
                <a:solidFill>
                  <a:schemeClr val="accent6"/>
                </a:solidFill>
              </a:defRPr>
            </a:lvl1pPr>
          </a:lstStyle>
          <a:p>
            <a:pPr algn="r">
              <a:buNone/>
            </a:pPr>
            <a:fld id="{F7021451-1387-4CA6-816F-3879F97B5CBC}" type="slidenum">
              <a:rPr b="0"/>
              <a:t>7</a:t>
            </a:fld>
            <a:endParaRPr/>
          </a:p>
        </p:txBody>
      </p:sp>
    </p:spTree>
    <p:extLst>
      <p:ext uri="{BB962C8B-B14F-4D97-AF65-F5344CB8AC3E}">
        <p14:creationId xmlns:p14="http://schemas.microsoft.com/office/powerpoint/2010/main" val="603264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1B4722-3EC1-4493-B2A2-924B034BB188}"/>
              </a:ext>
            </a:extLst>
          </p:cNvPr>
          <p:cNvSpPr>
            <a:spLocks noGrp="1"/>
          </p:cNvSpPr>
          <p:nvPr>
            <p:ph type="title" idx="100" hasCustomPrompt="1"/>
          </p:nvPr>
        </p:nvSpPr>
        <p:spPr>
          <a:xfrm>
            <a:off x="612648" y="384048"/>
            <a:ext cx="10972800" cy="777240"/>
          </a:xfrm>
          <a:prstGeom prst="rect">
            <a:avLst/>
          </a:prstGeom>
          <a:noFill/>
        </p:spPr>
        <p:txBody>
          <a:bodyPr wrap="square" lIns="0" tIns="0" rIns="0" bIns="0" anchor="ctr"/>
          <a:lstStyle/>
          <a:p>
            <a:pPr marL="0" indent="0" algn="l">
              <a:buNone/>
            </a:pPr>
            <a:r>
              <a:rPr sz="3400" b="1">
                <a:solidFill>
                  <a:schemeClr val="tx1"/>
                </a:solidFill>
              </a:rPr>
              <a:t>Tests et sécurité</a:t>
            </a:r>
            <a:endParaRPr sz="3400"/>
          </a:p>
        </p:txBody>
      </p:sp>
      <p:graphicFrame>
        <p:nvGraphicFramePr>
          <p:cNvPr id="9" name="tableau-74">
            <a:extLst>
              <a:ext uri="{FF2B5EF4-FFF2-40B4-BE49-F238E27FC236}">
                <a16:creationId xmlns:a16="http://schemas.microsoft.com/office/drawing/2014/main" id="{BDBECFE4-72A3-4E6B-8D03-F777D6F0EE1F}"/>
              </a:ext>
            </a:extLst>
          </p:cNvPr>
          <p:cNvGraphicFramePr/>
          <p:nvPr/>
        </p:nvGraphicFramePr>
        <p:xfrm>
          <a:off x="612648" y="1417320"/>
          <a:ext cx="10972800" cy="2255520"/>
        </p:xfrm>
        <a:graphic>
          <a:graphicData uri="http://schemas.openxmlformats.org/drawingml/2006/table">
            <a:tbl>
              <a:tblPr/>
              <a:tblGrid>
                <a:gridCol w="42062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548640">
                <a:tc>
                  <a:txBody>
                    <a:bodyPr/>
                    <a:lstStyle/>
                    <a:p>
                      <a:pPr marL="0" indent="0" algn="l">
                        <a:buNone/>
                      </a:pPr>
                      <a:r>
                        <a:rPr sz="1600" b="1">
                          <a:solidFill>
                            <a:schemeClr val="bg1"/>
                          </a:solidFill>
                        </a:rPr>
                        <a:t>Ce que nous avons vérifié</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tx1"/>
                    </a:solidFill>
                  </a:tcPr>
                </a:tc>
                <a:tc>
                  <a:txBody>
                    <a:bodyPr/>
                    <a:lstStyle/>
                    <a:p>
                      <a:pPr marL="0" indent="0" algn="l">
                        <a:buNone/>
                      </a:pPr>
                      <a:r>
                        <a:rPr sz="1600" b="1">
                          <a:solidFill>
                            <a:schemeClr val="bg1"/>
                          </a:solidFill>
                        </a:rPr>
                        <a:t>Attendu</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tx1"/>
                    </a:solidFill>
                  </a:tcPr>
                </a:tc>
                <a:tc>
                  <a:txBody>
                    <a:bodyPr/>
                    <a:lstStyle/>
                    <a:p>
                      <a:pPr marL="0" indent="0" algn="l">
                        <a:buNone/>
                      </a:pPr>
                      <a:r>
                        <a:rPr sz="1600" b="1">
                          <a:solidFill>
                            <a:schemeClr val="bg1"/>
                          </a:solidFill>
                        </a:rPr>
                        <a:t>Résultat connu</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tx1"/>
                    </a:solidFill>
                  </a:tcPr>
                </a:tc>
                <a:extLst>
                  <a:ext uri="{0D108BD9-81ED-4DB2-BD59-A6C34878D82A}">
                    <a16:rowId xmlns:a16="http://schemas.microsoft.com/office/drawing/2014/main" val="10000"/>
                  </a:ext>
                </a:extLst>
              </a:tr>
              <a:tr h="548640">
                <a:tc>
                  <a:txBody>
                    <a:bodyPr/>
                    <a:lstStyle/>
                    <a:p>
                      <a:pPr marL="0" indent="0">
                        <a:buNone/>
                      </a:pPr>
                      <a:r>
                        <a:rPr sz="1600" i="1">
                          <a:solidFill>
                            <a:schemeClr val="accent5"/>
                          </a:solidFill>
                        </a:rPr>
                        <a:t>Compilation Python</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2"/>
                    </a:solidFill>
                  </a:tcPr>
                </a:tc>
                <a:tc>
                  <a:txBody>
                    <a:bodyPr/>
                    <a:lstStyle/>
                    <a:p>
                      <a:pPr marL="0" indent="0">
                        <a:buNone/>
                      </a:pPr>
                      <a:r>
                        <a:rPr sz="1600" i="1">
                          <a:solidFill>
                            <a:schemeClr val="accent5"/>
                          </a:solidFill>
                        </a:rPr>
                        <a:t>Aucune erreur de syntaxe</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2"/>
                    </a:solidFill>
                  </a:tcPr>
                </a:tc>
                <a:tc>
                  <a:txBody>
                    <a:bodyPr/>
                    <a:lstStyle/>
                    <a:p>
                      <a:pPr marL="0" indent="0">
                        <a:buNone/>
                      </a:pPr>
                      <a:r>
                        <a:rPr sz="1600" i="1">
                          <a:solidFill>
                            <a:schemeClr val="accent5"/>
                          </a:solidFill>
                        </a:rPr>
                        <a:t>Réussie pour la version livrée.</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2"/>
                    </a:solidFill>
                  </a:tcPr>
                </a:tc>
                <a:extLst>
                  <a:ext uri="{0D108BD9-81ED-4DB2-BD59-A6C34878D82A}">
                    <a16:rowId xmlns:a16="http://schemas.microsoft.com/office/drawing/2014/main" val="10001"/>
                  </a:ext>
                </a:extLst>
              </a:tr>
              <a:tr h="548640">
                <a:tc>
                  <a:txBody>
                    <a:bodyPr/>
                    <a:lstStyle/>
                    <a:p>
                      <a:pPr marL="0" indent="0">
                        <a:buNone/>
                      </a:pPr>
                      <a:r>
                        <a:rPr sz="1600" i="1">
                          <a:solidFill>
                            <a:schemeClr val="accent5"/>
                          </a:solidFill>
                        </a:rPr>
                        <a:t>Construction Windows</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1"/>
                    </a:solidFill>
                  </a:tcPr>
                </a:tc>
                <a:tc>
                  <a:txBody>
                    <a:bodyPr/>
                    <a:lstStyle/>
                    <a:p>
                      <a:pPr marL="0" indent="0">
                        <a:buNone/>
                      </a:pPr>
                      <a:r>
                        <a:rPr sz="1600" i="1">
                          <a:solidFill>
                            <a:schemeClr val="accent5"/>
                          </a:solidFill>
                        </a:rPr>
                        <a:t>Un fichier .exe est créé</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1"/>
                    </a:solidFill>
                  </a:tcPr>
                </a:tc>
                <a:tc>
                  <a:txBody>
                    <a:bodyPr/>
                    <a:lstStyle/>
                    <a:p>
                      <a:pPr marL="0" indent="0">
                        <a:buNone/>
                      </a:pPr>
                      <a:r>
                        <a:rPr sz="1600" i="1">
                          <a:solidFill>
                            <a:schemeClr val="accent5"/>
                          </a:solidFill>
                        </a:rPr>
                        <a:t>Réussie : Sabiloul Houda - Bulletins.exe.</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1"/>
                    </a:solidFill>
                  </a:tcPr>
                </a:tc>
                <a:extLst>
                  <a:ext uri="{0D108BD9-81ED-4DB2-BD59-A6C34878D82A}">
                    <a16:rowId xmlns:a16="http://schemas.microsoft.com/office/drawing/2014/main" val="10002"/>
                  </a:ext>
                </a:extLst>
              </a:tr>
              <a:tr h="548640">
                <a:tc>
                  <a:txBody>
                    <a:bodyPr/>
                    <a:lstStyle/>
                    <a:p>
                      <a:pPr marL="0" indent="0">
                        <a:buNone/>
                      </a:pPr>
                      <a:r>
                        <a:rPr sz="1600" i="1">
                          <a:solidFill>
                            <a:schemeClr val="accent5"/>
                          </a:solidFill>
                        </a:rPr>
                        <a:t>Parcours élève, suppression et bulletin</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2"/>
                    </a:solidFill>
                  </a:tcPr>
                </a:tc>
                <a:tc>
                  <a:txBody>
                    <a:bodyPr/>
                    <a:lstStyle/>
                    <a:p>
                      <a:pPr marL="0" indent="0">
                        <a:buNone/>
                      </a:pPr>
                      <a:r>
                        <a:rPr sz="1600" i="1">
                          <a:solidFill>
                            <a:schemeClr val="accent5"/>
                          </a:solidFill>
                        </a:rPr>
                        <a:t>Fonctions opérationnelles avec données fictives</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2"/>
                    </a:solidFill>
                  </a:tcPr>
                </a:tc>
                <a:tc>
                  <a:txBody>
                    <a:bodyPr/>
                    <a:lstStyle/>
                    <a:p>
                      <a:pPr marL="0" indent="0">
                        <a:buNone/>
                      </a:pPr>
                      <a:r>
                        <a:rPr sz="1600" i="1">
                          <a:solidFill>
                            <a:schemeClr val="accent5"/>
                          </a:solidFill>
                        </a:rPr>
                        <a:t>À rejouer sur le nouvel .exe avant la soutenance.</a:t>
                      </a:r>
                      <a:endParaRPr sz="16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2"/>
                    </a:solidFill>
                  </a:tcPr>
                </a:tc>
                <a:extLst>
                  <a:ext uri="{0D108BD9-81ED-4DB2-BD59-A6C34878D82A}">
                    <a16:rowId xmlns:a16="http://schemas.microsoft.com/office/drawing/2014/main" val="10003"/>
                  </a:ext>
                </a:extLst>
              </a:tr>
            </a:tbl>
          </a:graphicData>
        </a:graphic>
      </p:graphicFrame>
      <p:sp>
        <p:nvSpPr>
          <p:cNvPr id="4" name="carte-75">
            <a:extLst>
              <a:ext uri="{FF2B5EF4-FFF2-40B4-BE49-F238E27FC236}">
                <a16:creationId xmlns:a16="http://schemas.microsoft.com/office/drawing/2014/main" id="{0AFC598D-5479-4035-A140-B0FAC666E069}"/>
              </a:ext>
            </a:extLst>
          </p:cNvPr>
          <p:cNvSpPr>
            <a:spLocks noGrp="1"/>
          </p:cNvSpPr>
          <p:nvPr/>
        </p:nvSpPr>
        <p:spPr>
          <a:xfrm>
            <a:off x="612648" y="3931920"/>
            <a:ext cx="10972800" cy="1874520"/>
          </a:xfrm>
          <a:prstGeom prst="roundRect">
            <a:avLst>
              <a:gd name="adj" fmla="val 5854"/>
            </a:avLst>
          </a:prstGeom>
          <a:solidFill>
            <a:schemeClr val="bg2"/>
          </a:solidFill>
        </p:spPr>
      </p:sp>
      <p:sp>
        <p:nvSpPr>
          <p:cNvPr id="5" name="pastille-76">
            <a:extLst>
              <a:ext uri="{FF2B5EF4-FFF2-40B4-BE49-F238E27FC236}">
                <a16:creationId xmlns:a16="http://schemas.microsoft.com/office/drawing/2014/main" id="{67B119D0-FAFF-4EA7-A22E-A047392CDBA0}"/>
              </a:ext>
            </a:extLst>
          </p:cNvPr>
          <p:cNvSpPr>
            <a:spLocks noGrp="1"/>
          </p:cNvSpPr>
          <p:nvPr/>
        </p:nvSpPr>
        <p:spPr>
          <a:xfrm>
            <a:off x="886968" y="4160520"/>
            <a:ext cx="685800" cy="685800"/>
          </a:xfrm>
          <a:prstGeom prst="ellipse">
            <a:avLst/>
          </a:prstGeom>
          <a:solidFill>
            <a:schemeClr val="accent1"/>
          </a:solidFill>
        </p:spPr>
      </p:sp>
      <p:pic>
        <p:nvPicPr>
          <p:cNvPr id="6" name="icone-77">
            <a:extLst>
              <a:ext uri="{FF2B5EF4-FFF2-40B4-BE49-F238E27FC236}">
                <a16:creationId xmlns:a16="http://schemas.microsoft.com/office/drawing/2014/main" id="{795D761F-EE48-4651-9EE9-26F7C8A7A8F7}"/>
              </a:ext>
            </a:extLst>
          </p:cNvPr>
          <p:cNvPicPr>
            <a:picLocks noChangeAspect="1"/>
          </p:cNvPicPr>
          <p:nvPr/>
        </p:nvPicPr>
        <p:blipFill>
          <a:blip r:embed="rId3"/>
          <a:stretch>
            <a:fillRect/>
          </a:stretch>
        </p:blipFill>
        <p:spPr>
          <a:xfrm>
            <a:off x="1072134" y="4345686"/>
            <a:ext cx="315468" cy="315468"/>
          </a:xfrm>
          <a:prstGeom prst="rect">
            <a:avLst/>
          </a:prstGeom>
        </p:spPr>
      </p:pic>
      <p:sp>
        <p:nvSpPr>
          <p:cNvPr id="7" name="texte-78">
            <a:extLst>
              <a:ext uri="{FF2B5EF4-FFF2-40B4-BE49-F238E27FC236}">
                <a16:creationId xmlns:a16="http://schemas.microsoft.com/office/drawing/2014/main" id="{2F10A01B-45FF-4785-8915-34B6571BCE9F}"/>
              </a:ext>
            </a:extLst>
          </p:cNvPr>
          <p:cNvSpPr>
            <a:spLocks noGrp="1"/>
          </p:cNvSpPr>
          <p:nvPr/>
        </p:nvSpPr>
        <p:spPr>
          <a:xfrm>
            <a:off x="1755648" y="4160520"/>
            <a:ext cx="9509760" cy="457200"/>
          </a:xfrm>
          <a:prstGeom prst="rect">
            <a:avLst/>
          </a:prstGeom>
          <a:noFill/>
        </p:spPr>
        <p:txBody>
          <a:bodyPr wrap="square" lIns="0" tIns="0" rIns="0" bIns="0" anchor="t"/>
          <a:lstStyle/>
          <a:p>
            <a:pPr marL="0" indent="0">
              <a:buNone/>
            </a:pPr>
            <a:r>
              <a:rPr sz="1800" b="1">
                <a:solidFill>
                  <a:schemeClr val="tx1"/>
                </a:solidFill>
              </a:rPr>
              <a:t>Données personnelles</a:t>
            </a:r>
            <a:endParaRPr sz="1800"/>
          </a:p>
        </p:txBody>
      </p:sp>
      <p:sp>
        <p:nvSpPr>
          <p:cNvPr id="8" name="Text 15">
            <a:extLst>
              <a:ext uri="{FF2B5EF4-FFF2-40B4-BE49-F238E27FC236}">
                <a16:creationId xmlns:a16="http://schemas.microsoft.com/office/drawing/2014/main" id="{583B50EE-17A0-4D91-8B5B-7C6601CD0750}"/>
              </a:ext>
            </a:extLst>
          </p:cNvPr>
          <p:cNvSpPr>
            <a:spLocks noGrp="1"/>
          </p:cNvSpPr>
          <p:nvPr/>
        </p:nvSpPr>
        <p:spPr>
          <a:xfrm>
            <a:off x="1755648" y="4663440"/>
            <a:ext cx="9509760" cy="1005840"/>
          </a:xfrm>
          <a:prstGeom prst="rect">
            <a:avLst/>
          </a:prstGeom>
          <a:noFill/>
        </p:spPr>
        <p:txBody>
          <a:bodyPr wrap="square" lIns="0" tIns="0" rIns="0" bIns="0" anchor="ctr"/>
          <a:lstStyle/>
          <a:p>
            <a:pPr marL="0" indent="0">
              <a:buNone/>
            </a:pPr>
            <a:r>
              <a:rPr sz="1600" i="1">
                <a:solidFill>
                  <a:schemeClr val="accent5"/>
                </a:solidFill>
              </a:rPr>
              <a:t>La base SQLite reste sur l’ordinateur. Les fiches peuvent contenir des noms et téléphones : utiliser uniquement des données fictives en démonstration et protéger l’accès au PC.</a:t>
            </a:r>
            <a:endParaRPr sz="1600"/>
          </a:p>
        </p:txBody>
      </p:sp>
      <p:sp>
        <p:nvSpPr>
          <p:cNvPr id="25" name="Slide Number Placeholder 0">
            <a:extLst>
              <a:ext uri="{FF2B5EF4-FFF2-40B4-BE49-F238E27FC236}">
                <a16:creationId xmlns:a16="http://schemas.microsoft.com/office/drawing/2014/main" id="{9E21ED9B-56C0-4614-B522-E6B2912FE89B}"/>
              </a:ext>
            </a:extLst>
          </p:cNvPr>
          <p:cNvSpPr>
            <a:spLocks noGrp="1"/>
          </p:cNvSpPr>
          <p:nvPr>
            <p:ph type="sldNum" idx="4294967295"/>
          </p:nvPr>
        </p:nvSpPr>
        <p:spPr>
          <a:xfrm>
            <a:off x="11109960" y="6382512"/>
            <a:ext cx="457200" cy="274320"/>
          </a:xfrm>
          <a:prstGeom prst="rect">
            <a:avLst/>
          </a:prstGeom>
        </p:spPr>
        <p:txBody>
          <a:bodyPr/>
          <a:lstStyle>
            <a:lvl1pPr>
              <a:buNone/>
              <a:defRPr sz="1000">
                <a:solidFill>
                  <a:schemeClr val="accent6"/>
                </a:solidFill>
              </a:defRPr>
            </a:lvl1pPr>
          </a:lstStyle>
          <a:p>
            <a:pPr algn="r">
              <a:buNone/>
            </a:pPr>
            <a:fld id="{F7021451-1387-4CA6-816F-3879F97B5CBC}" type="slidenum">
              <a:rPr b="0"/>
              <a:t>8</a:t>
            </a:fld>
            <a:endParaRPr/>
          </a:p>
        </p:txBody>
      </p:sp>
    </p:spTree>
    <p:extLst>
      <p:ext uri="{BB962C8B-B14F-4D97-AF65-F5344CB8AC3E}">
        <p14:creationId xmlns:p14="http://schemas.microsoft.com/office/powerpoint/2010/main" val="1830541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F02E3D9-AE60-4DED-AAB3-44EF516601B7}"/>
              </a:ext>
            </a:extLst>
          </p:cNvPr>
          <p:cNvSpPr>
            <a:spLocks noGrp="1"/>
          </p:cNvSpPr>
          <p:nvPr>
            <p:ph type="title" idx="100" hasCustomPrompt="1"/>
          </p:nvPr>
        </p:nvSpPr>
        <p:spPr>
          <a:xfrm>
            <a:off x="612648" y="384048"/>
            <a:ext cx="10972800" cy="777240"/>
          </a:xfrm>
          <a:prstGeom prst="rect">
            <a:avLst/>
          </a:prstGeom>
          <a:noFill/>
        </p:spPr>
        <p:txBody>
          <a:bodyPr wrap="square" lIns="0" tIns="0" rIns="0" bIns="0" anchor="ctr"/>
          <a:lstStyle/>
          <a:p>
            <a:pPr marL="0" indent="0" algn="l">
              <a:buNone/>
            </a:pPr>
            <a:r>
              <a:rPr sz="3400" b="1">
                <a:solidFill>
                  <a:schemeClr val="tx1"/>
                </a:solidFill>
              </a:rPr>
              <a:t>Bilan</a:t>
            </a:r>
            <a:endParaRPr sz="3400"/>
          </a:p>
        </p:txBody>
      </p:sp>
      <p:sp>
        <p:nvSpPr>
          <p:cNvPr id="3" name="carte-80">
            <a:extLst>
              <a:ext uri="{FF2B5EF4-FFF2-40B4-BE49-F238E27FC236}">
                <a16:creationId xmlns:a16="http://schemas.microsoft.com/office/drawing/2014/main" id="{4E4A2E41-0E92-4851-B23F-65FB535C177C}"/>
              </a:ext>
            </a:extLst>
          </p:cNvPr>
          <p:cNvSpPr>
            <a:spLocks noGrp="1"/>
          </p:cNvSpPr>
          <p:nvPr/>
        </p:nvSpPr>
        <p:spPr>
          <a:xfrm>
            <a:off x="612648" y="1417320"/>
            <a:ext cx="3474720" cy="2743200"/>
          </a:xfrm>
          <a:prstGeom prst="roundRect">
            <a:avLst>
              <a:gd name="adj" fmla="val 4000"/>
            </a:avLst>
          </a:prstGeom>
          <a:solidFill>
            <a:schemeClr val="bg1"/>
          </a:solidFill>
          <a:ln w="9525">
            <a:solidFill>
              <a:srgbClr val="E3E6EE"/>
            </a:solidFill>
            <a:prstDash val="solid"/>
          </a:ln>
          <a:effectLst>
            <a:outerShdw blurRad="101600" dist="25400" dir="5400000" algn="bl" rotWithShape="0">
              <a:srgbClr val="000000">
                <a:alpha val="8000"/>
              </a:srgbClr>
            </a:outerShdw>
          </a:effectLst>
        </p:spPr>
      </p:sp>
      <p:sp>
        <p:nvSpPr>
          <p:cNvPr id="4" name="pastille-81">
            <a:extLst>
              <a:ext uri="{FF2B5EF4-FFF2-40B4-BE49-F238E27FC236}">
                <a16:creationId xmlns:a16="http://schemas.microsoft.com/office/drawing/2014/main" id="{68E2F6E5-E915-471D-BF0C-B07851B4C519}"/>
              </a:ext>
            </a:extLst>
          </p:cNvPr>
          <p:cNvSpPr>
            <a:spLocks noGrp="1"/>
          </p:cNvSpPr>
          <p:nvPr/>
        </p:nvSpPr>
        <p:spPr>
          <a:xfrm>
            <a:off x="886968" y="1691640"/>
            <a:ext cx="685800" cy="685800"/>
          </a:xfrm>
          <a:prstGeom prst="ellipse">
            <a:avLst/>
          </a:prstGeom>
          <a:solidFill>
            <a:schemeClr val="accent2"/>
          </a:solidFill>
        </p:spPr>
      </p:sp>
      <p:pic>
        <p:nvPicPr>
          <p:cNvPr id="5" name="icone-82">
            <a:extLst>
              <a:ext uri="{FF2B5EF4-FFF2-40B4-BE49-F238E27FC236}">
                <a16:creationId xmlns:a16="http://schemas.microsoft.com/office/drawing/2014/main" id="{35CF7F7B-5B6B-43FD-BD93-B44EEBF88BE4}"/>
              </a:ext>
            </a:extLst>
          </p:cNvPr>
          <p:cNvPicPr>
            <a:picLocks noChangeAspect="1"/>
          </p:cNvPicPr>
          <p:nvPr/>
        </p:nvPicPr>
        <p:blipFill>
          <a:blip r:embed="rId3"/>
          <a:stretch>
            <a:fillRect/>
          </a:stretch>
        </p:blipFill>
        <p:spPr>
          <a:xfrm>
            <a:off x="1072134" y="1876806"/>
            <a:ext cx="315468" cy="315468"/>
          </a:xfrm>
          <a:prstGeom prst="rect">
            <a:avLst/>
          </a:prstGeom>
        </p:spPr>
      </p:pic>
      <p:sp>
        <p:nvSpPr>
          <p:cNvPr id="6" name="texte-83">
            <a:extLst>
              <a:ext uri="{FF2B5EF4-FFF2-40B4-BE49-F238E27FC236}">
                <a16:creationId xmlns:a16="http://schemas.microsoft.com/office/drawing/2014/main" id="{58214D52-EF01-4680-864D-386633E71755}"/>
              </a:ext>
            </a:extLst>
          </p:cNvPr>
          <p:cNvSpPr>
            <a:spLocks noGrp="1"/>
          </p:cNvSpPr>
          <p:nvPr/>
        </p:nvSpPr>
        <p:spPr>
          <a:xfrm>
            <a:off x="1755648" y="1691640"/>
            <a:ext cx="2103120" cy="685800"/>
          </a:xfrm>
          <a:prstGeom prst="rect">
            <a:avLst/>
          </a:prstGeom>
          <a:noFill/>
        </p:spPr>
        <p:txBody>
          <a:bodyPr wrap="square" lIns="0" tIns="0" rIns="0" bIns="0" anchor="ctr"/>
          <a:lstStyle/>
          <a:p>
            <a:pPr marL="0" indent="0">
              <a:buNone/>
            </a:pPr>
            <a:r>
              <a:rPr sz="1900" b="1">
                <a:solidFill>
                  <a:schemeClr val="tx1"/>
                </a:solidFill>
              </a:rPr>
              <a:t>Ce qui marche</a:t>
            </a:r>
            <a:endParaRPr sz="1900"/>
          </a:p>
        </p:txBody>
      </p:sp>
      <p:sp>
        <p:nvSpPr>
          <p:cNvPr id="7" name="Text 15">
            <a:extLst>
              <a:ext uri="{FF2B5EF4-FFF2-40B4-BE49-F238E27FC236}">
                <a16:creationId xmlns:a16="http://schemas.microsoft.com/office/drawing/2014/main" id="{00A73A6D-BA47-444F-BCF8-6EACD48D6763}"/>
              </a:ext>
            </a:extLst>
          </p:cNvPr>
          <p:cNvSpPr>
            <a:spLocks noGrp="1"/>
          </p:cNvSpPr>
          <p:nvPr/>
        </p:nvSpPr>
        <p:spPr>
          <a:xfrm>
            <a:off x="886968" y="2560320"/>
            <a:ext cx="2926080" cy="1463040"/>
          </a:xfrm>
          <a:prstGeom prst="rect">
            <a:avLst/>
          </a:prstGeom>
          <a:noFill/>
        </p:spPr>
        <p:txBody>
          <a:bodyPr wrap="square" lIns="0" tIns="0" rIns="0" bIns="0" anchor="ctr"/>
          <a:lstStyle/>
          <a:p>
            <a:pPr marL="0" indent="0">
              <a:buNone/>
            </a:pPr>
            <a:r>
              <a:rPr sz="1550" i="1">
                <a:solidFill>
                  <a:schemeClr val="accent5"/>
                </a:solidFill>
              </a:rPr>
              <a:t>Écrans de gestion scolaire et financière, notes /10, rapports et bulletins PDF individuels. Le code a été compilé et l’exécutable Windows construit.</a:t>
            </a:r>
            <a:endParaRPr sz="1550"/>
          </a:p>
        </p:txBody>
      </p:sp>
      <p:sp>
        <p:nvSpPr>
          <p:cNvPr id="8" name="carte-85">
            <a:extLst>
              <a:ext uri="{FF2B5EF4-FFF2-40B4-BE49-F238E27FC236}">
                <a16:creationId xmlns:a16="http://schemas.microsoft.com/office/drawing/2014/main" id="{10600FAA-F818-490C-96F4-DC2D204BCA93}"/>
              </a:ext>
            </a:extLst>
          </p:cNvPr>
          <p:cNvSpPr>
            <a:spLocks noGrp="1"/>
          </p:cNvSpPr>
          <p:nvPr/>
        </p:nvSpPr>
        <p:spPr>
          <a:xfrm>
            <a:off x="4361688" y="1417320"/>
            <a:ext cx="3474720" cy="2743200"/>
          </a:xfrm>
          <a:prstGeom prst="roundRect">
            <a:avLst>
              <a:gd name="adj" fmla="val 4000"/>
            </a:avLst>
          </a:prstGeom>
          <a:solidFill>
            <a:schemeClr val="bg1"/>
          </a:solidFill>
          <a:ln w="9525">
            <a:solidFill>
              <a:srgbClr val="E3E6EE"/>
            </a:solidFill>
            <a:prstDash val="solid"/>
          </a:ln>
          <a:effectLst>
            <a:outerShdw blurRad="101600" dist="25400" dir="5400000" algn="bl" rotWithShape="0">
              <a:srgbClr val="000000">
                <a:alpha val="8000"/>
              </a:srgbClr>
            </a:outerShdw>
          </a:effectLst>
        </p:spPr>
      </p:sp>
      <p:sp>
        <p:nvSpPr>
          <p:cNvPr id="9" name="pastille-86">
            <a:extLst>
              <a:ext uri="{FF2B5EF4-FFF2-40B4-BE49-F238E27FC236}">
                <a16:creationId xmlns:a16="http://schemas.microsoft.com/office/drawing/2014/main" id="{43691CAE-5A4A-432C-9CAC-979B1A632B23}"/>
              </a:ext>
            </a:extLst>
          </p:cNvPr>
          <p:cNvSpPr>
            <a:spLocks noGrp="1"/>
          </p:cNvSpPr>
          <p:nvPr/>
        </p:nvSpPr>
        <p:spPr>
          <a:xfrm>
            <a:off x="4636008" y="1691640"/>
            <a:ext cx="685800" cy="685800"/>
          </a:xfrm>
          <a:prstGeom prst="ellipse">
            <a:avLst/>
          </a:prstGeom>
          <a:solidFill>
            <a:schemeClr val="accent3"/>
          </a:solidFill>
        </p:spPr>
      </p:sp>
      <p:pic>
        <p:nvPicPr>
          <p:cNvPr id="10" name="icone-87">
            <a:extLst>
              <a:ext uri="{FF2B5EF4-FFF2-40B4-BE49-F238E27FC236}">
                <a16:creationId xmlns:a16="http://schemas.microsoft.com/office/drawing/2014/main" id="{139DC298-1709-4F32-B338-B26D872B8DE8}"/>
              </a:ext>
            </a:extLst>
          </p:cNvPr>
          <p:cNvPicPr>
            <a:picLocks noChangeAspect="1"/>
          </p:cNvPicPr>
          <p:nvPr/>
        </p:nvPicPr>
        <p:blipFill>
          <a:blip r:embed="rId4"/>
          <a:stretch>
            <a:fillRect/>
          </a:stretch>
        </p:blipFill>
        <p:spPr>
          <a:xfrm>
            <a:off x="4821174" y="1876806"/>
            <a:ext cx="315468" cy="315468"/>
          </a:xfrm>
          <a:prstGeom prst="rect">
            <a:avLst/>
          </a:prstGeom>
        </p:spPr>
      </p:pic>
      <p:sp>
        <p:nvSpPr>
          <p:cNvPr id="11" name="texte-88">
            <a:extLst>
              <a:ext uri="{FF2B5EF4-FFF2-40B4-BE49-F238E27FC236}">
                <a16:creationId xmlns:a16="http://schemas.microsoft.com/office/drawing/2014/main" id="{2A45C5C1-5429-4706-BEB7-3563FC7A5464}"/>
              </a:ext>
            </a:extLst>
          </p:cNvPr>
          <p:cNvSpPr>
            <a:spLocks noGrp="1"/>
          </p:cNvSpPr>
          <p:nvPr/>
        </p:nvSpPr>
        <p:spPr>
          <a:xfrm>
            <a:off x="5504688" y="1691640"/>
            <a:ext cx="2103120" cy="685800"/>
          </a:xfrm>
          <a:prstGeom prst="rect">
            <a:avLst/>
          </a:prstGeom>
          <a:noFill/>
        </p:spPr>
        <p:txBody>
          <a:bodyPr wrap="square" lIns="0" tIns="0" rIns="0" bIns="0" anchor="ctr"/>
          <a:lstStyle/>
          <a:p>
            <a:pPr marL="0" indent="0">
              <a:buNone/>
            </a:pPr>
            <a:r>
              <a:rPr sz="1900" b="1">
                <a:solidFill>
                  <a:schemeClr val="tx1"/>
                </a:solidFill>
              </a:rPr>
              <a:t>Les limites</a:t>
            </a:r>
            <a:endParaRPr sz="1900"/>
          </a:p>
        </p:txBody>
      </p:sp>
      <p:sp>
        <p:nvSpPr>
          <p:cNvPr id="12" name="Text 15">
            <a:extLst>
              <a:ext uri="{FF2B5EF4-FFF2-40B4-BE49-F238E27FC236}">
                <a16:creationId xmlns:a16="http://schemas.microsoft.com/office/drawing/2014/main" id="{96FEBF59-E342-4644-9140-C695E0A95264}"/>
              </a:ext>
            </a:extLst>
          </p:cNvPr>
          <p:cNvSpPr>
            <a:spLocks noGrp="1"/>
          </p:cNvSpPr>
          <p:nvPr/>
        </p:nvSpPr>
        <p:spPr>
          <a:xfrm>
            <a:off x="4636008" y="2560320"/>
            <a:ext cx="2926080" cy="1463040"/>
          </a:xfrm>
          <a:prstGeom prst="rect">
            <a:avLst/>
          </a:prstGeom>
          <a:noFill/>
        </p:spPr>
        <p:txBody>
          <a:bodyPr wrap="square" lIns="0" tIns="0" rIns="0" bIns="0" anchor="ctr"/>
          <a:lstStyle/>
          <a:p>
            <a:pPr marL="0" indent="0">
              <a:buNone/>
            </a:pPr>
            <a:r>
              <a:rPr sz="1550" i="1">
                <a:solidFill>
                  <a:schemeClr val="accent5"/>
                </a:solidFill>
              </a:rPr>
              <a:t>La base est locale : pas de synchronisation réseau ni de comptes utilisateurs. Les parcours doivent être rejoués sur le nouvel exécutable avant la soutenance.</a:t>
            </a:r>
            <a:endParaRPr sz="1550"/>
          </a:p>
        </p:txBody>
      </p:sp>
      <p:sp>
        <p:nvSpPr>
          <p:cNvPr id="13" name="carte-90">
            <a:extLst>
              <a:ext uri="{FF2B5EF4-FFF2-40B4-BE49-F238E27FC236}">
                <a16:creationId xmlns:a16="http://schemas.microsoft.com/office/drawing/2014/main" id="{01FBFF9B-4974-486B-ACFC-4252EB38116E}"/>
              </a:ext>
            </a:extLst>
          </p:cNvPr>
          <p:cNvSpPr>
            <a:spLocks noGrp="1"/>
          </p:cNvSpPr>
          <p:nvPr/>
        </p:nvSpPr>
        <p:spPr>
          <a:xfrm>
            <a:off x="8110728" y="1417320"/>
            <a:ext cx="3474720" cy="2743200"/>
          </a:xfrm>
          <a:prstGeom prst="roundRect">
            <a:avLst>
              <a:gd name="adj" fmla="val 4000"/>
            </a:avLst>
          </a:prstGeom>
          <a:solidFill>
            <a:schemeClr val="bg1"/>
          </a:solidFill>
          <a:ln w="9525">
            <a:solidFill>
              <a:srgbClr val="E3E6EE"/>
            </a:solidFill>
            <a:prstDash val="solid"/>
          </a:ln>
          <a:effectLst>
            <a:outerShdw blurRad="101600" dist="25400" dir="5400000" algn="bl" rotWithShape="0">
              <a:srgbClr val="000000">
                <a:alpha val="8000"/>
              </a:srgbClr>
            </a:outerShdw>
          </a:effectLst>
        </p:spPr>
      </p:sp>
      <p:sp>
        <p:nvSpPr>
          <p:cNvPr id="14" name="pastille-91">
            <a:extLst>
              <a:ext uri="{FF2B5EF4-FFF2-40B4-BE49-F238E27FC236}">
                <a16:creationId xmlns:a16="http://schemas.microsoft.com/office/drawing/2014/main" id="{2FA0A2EA-F965-4803-B412-C74281C856D5}"/>
              </a:ext>
            </a:extLst>
          </p:cNvPr>
          <p:cNvSpPr>
            <a:spLocks noGrp="1"/>
          </p:cNvSpPr>
          <p:nvPr/>
        </p:nvSpPr>
        <p:spPr>
          <a:xfrm>
            <a:off x="8385048" y="1691640"/>
            <a:ext cx="685800" cy="685800"/>
          </a:xfrm>
          <a:prstGeom prst="ellipse">
            <a:avLst/>
          </a:prstGeom>
          <a:solidFill>
            <a:schemeClr val="accent1"/>
          </a:solidFill>
        </p:spPr>
      </p:sp>
      <p:pic>
        <p:nvPicPr>
          <p:cNvPr id="15" name="icone-92">
            <a:extLst>
              <a:ext uri="{FF2B5EF4-FFF2-40B4-BE49-F238E27FC236}">
                <a16:creationId xmlns:a16="http://schemas.microsoft.com/office/drawing/2014/main" id="{C6A0D397-E6F2-4079-A0A5-CF7C12A88754}"/>
              </a:ext>
            </a:extLst>
          </p:cNvPr>
          <p:cNvPicPr>
            <a:picLocks noChangeAspect="1"/>
          </p:cNvPicPr>
          <p:nvPr/>
        </p:nvPicPr>
        <p:blipFill>
          <a:blip r:embed="rId5"/>
          <a:stretch>
            <a:fillRect/>
          </a:stretch>
        </p:blipFill>
        <p:spPr>
          <a:xfrm>
            <a:off x="8570214" y="1876806"/>
            <a:ext cx="315468" cy="315468"/>
          </a:xfrm>
          <a:prstGeom prst="rect">
            <a:avLst/>
          </a:prstGeom>
        </p:spPr>
      </p:pic>
      <p:sp>
        <p:nvSpPr>
          <p:cNvPr id="16" name="texte-93">
            <a:extLst>
              <a:ext uri="{FF2B5EF4-FFF2-40B4-BE49-F238E27FC236}">
                <a16:creationId xmlns:a16="http://schemas.microsoft.com/office/drawing/2014/main" id="{F506E990-47C7-4D04-8693-064294BD0163}"/>
              </a:ext>
            </a:extLst>
          </p:cNvPr>
          <p:cNvSpPr>
            <a:spLocks noGrp="1"/>
          </p:cNvSpPr>
          <p:nvPr/>
        </p:nvSpPr>
        <p:spPr>
          <a:xfrm>
            <a:off x="9253728" y="1691640"/>
            <a:ext cx="2103120" cy="685800"/>
          </a:xfrm>
          <a:prstGeom prst="rect">
            <a:avLst/>
          </a:prstGeom>
          <a:noFill/>
        </p:spPr>
        <p:txBody>
          <a:bodyPr wrap="square" lIns="0" tIns="0" rIns="0" bIns="0" anchor="ctr"/>
          <a:lstStyle/>
          <a:p>
            <a:pPr marL="0" indent="0">
              <a:buNone/>
            </a:pPr>
            <a:r>
              <a:rPr sz="1900" b="1">
                <a:solidFill>
                  <a:schemeClr val="tx1"/>
                </a:solidFill>
              </a:rPr>
              <a:t>Si c’était à refaire</a:t>
            </a:r>
            <a:endParaRPr sz="1900"/>
          </a:p>
        </p:txBody>
      </p:sp>
      <p:sp>
        <p:nvSpPr>
          <p:cNvPr id="17" name="Text 15">
            <a:extLst>
              <a:ext uri="{FF2B5EF4-FFF2-40B4-BE49-F238E27FC236}">
                <a16:creationId xmlns:a16="http://schemas.microsoft.com/office/drawing/2014/main" id="{75A5F792-D781-4D48-9749-6407C364AFBC}"/>
              </a:ext>
            </a:extLst>
          </p:cNvPr>
          <p:cNvSpPr>
            <a:spLocks noGrp="1"/>
          </p:cNvSpPr>
          <p:nvPr/>
        </p:nvSpPr>
        <p:spPr>
          <a:xfrm>
            <a:off x="8385048" y="2560320"/>
            <a:ext cx="2926080" cy="1463040"/>
          </a:xfrm>
          <a:prstGeom prst="rect">
            <a:avLst/>
          </a:prstGeom>
          <a:noFill/>
        </p:spPr>
        <p:txBody>
          <a:bodyPr wrap="square" lIns="0" tIns="0" rIns="0" bIns="0" anchor="ctr"/>
          <a:lstStyle/>
          <a:p>
            <a:pPr marL="0" indent="0">
              <a:buNone/>
            </a:pPr>
            <a:r>
              <a:rPr sz="1550" i="1">
                <a:solidFill>
                  <a:schemeClr val="accent5"/>
                </a:solidFill>
              </a:rPr>
              <a:t>Tester tôt l’installation sur un autre PC, les modifications et suppressions, puis préparer les captures de démonstration avec des données fictives.</a:t>
            </a:r>
            <a:endParaRPr sz="1550"/>
          </a:p>
        </p:txBody>
      </p:sp>
      <p:graphicFrame>
        <p:nvGraphicFramePr>
          <p:cNvPr id="26" name="tableau-95">
            <a:extLst>
              <a:ext uri="{FF2B5EF4-FFF2-40B4-BE49-F238E27FC236}">
                <a16:creationId xmlns:a16="http://schemas.microsoft.com/office/drawing/2014/main" id="{736806B7-B453-4526-B81D-E63193F453E3}"/>
              </a:ext>
            </a:extLst>
          </p:cNvPr>
          <p:cNvGraphicFramePr/>
          <p:nvPr>
            <p:extLst>
              <p:ext uri="{D42A27DB-BD31-4B8C-83A1-F6EECF244321}">
                <p14:modId xmlns:p14="http://schemas.microsoft.com/office/powerpoint/2010/main" val="1469021791"/>
              </p:ext>
            </p:extLst>
          </p:nvPr>
        </p:nvGraphicFramePr>
        <p:xfrm>
          <a:off x="612648" y="4389118"/>
          <a:ext cx="10030968" cy="1921880"/>
        </p:xfrm>
        <a:graphic>
          <a:graphicData uri="http://schemas.openxmlformats.org/drawingml/2006/table">
            <a:tbl>
              <a:tblPr/>
              <a:tblGrid>
                <a:gridCol w="4407408">
                  <a:extLst>
                    <a:ext uri="{9D8B030D-6E8A-4147-A177-3AD203B41FA5}">
                      <a16:colId xmlns:a16="http://schemas.microsoft.com/office/drawing/2014/main" val="20000"/>
                    </a:ext>
                  </a:extLst>
                </a:gridCol>
                <a:gridCol w="5623560">
                  <a:extLst>
                    <a:ext uri="{9D8B030D-6E8A-4147-A177-3AD203B41FA5}">
                      <a16:colId xmlns:a16="http://schemas.microsoft.com/office/drawing/2014/main" val="20001"/>
                    </a:ext>
                  </a:extLst>
                </a:gridCol>
              </a:tblGrid>
              <a:tr h="480470">
                <a:tc>
                  <a:txBody>
                    <a:bodyPr/>
                    <a:lstStyle/>
                    <a:p>
                      <a:pPr marL="0" indent="0" algn="l">
                        <a:buNone/>
                      </a:pPr>
                      <a:r>
                        <a:rPr sz="1500" b="1" dirty="0" err="1" smtClean="0">
                          <a:solidFill>
                            <a:schemeClr val="bg1"/>
                          </a:solidFill>
                        </a:rPr>
                        <a:t>Membre</a:t>
                      </a:r>
                      <a:endParaRPr sz="1500" dirty="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tx1"/>
                    </a:solidFill>
                  </a:tcPr>
                </a:tc>
                <a:tc>
                  <a:txBody>
                    <a:bodyPr/>
                    <a:lstStyle/>
                    <a:p>
                      <a:pPr marL="0" indent="0" algn="l">
                        <a:buNone/>
                      </a:pPr>
                      <a:r>
                        <a:rPr sz="1500" b="1">
                          <a:solidFill>
                            <a:schemeClr val="bg1"/>
                          </a:solidFill>
                        </a:rPr>
                        <a:t>A réalisé</a:t>
                      </a:r>
                      <a:endParaRPr sz="150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tx1"/>
                    </a:solidFill>
                  </a:tcPr>
                </a:tc>
                <a:extLst>
                  <a:ext uri="{0D108BD9-81ED-4DB2-BD59-A6C34878D82A}">
                    <a16:rowId xmlns:a16="http://schemas.microsoft.com/office/drawing/2014/main" val="10000"/>
                  </a:ext>
                </a:extLst>
              </a:tr>
              <a:tr h="480470">
                <a:tc>
                  <a:txBody>
                    <a:bodyPr/>
                    <a:lstStyle/>
                    <a:p>
                      <a:pPr marL="0" indent="0">
                        <a:buNone/>
                      </a:pPr>
                      <a:r>
                        <a:rPr lang="fr-FR" sz="1500" i="1" dirty="0" smtClean="0">
                          <a:solidFill>
                            <a:schemeClr val="accent5"/>
                          </a:solidFill>
                        </a:rPr>
                        <a:t>Nouhoun Berthe</a:t>
                      </a:r>
                      <a:endParaRPr sz="1500" dirty="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2"/>
                    </a:solidFill>
                  </a:tcPr>
                </a:tc>
                <a:tc>
                  <a:txBody>
                    <a:bodyPr/>
                    <a:lstStyle/>
                    <a:p>
                      <a:pPr marL="0" indent="0">
                        <a:buNone/>
                      </a:pPr>
                      <a:r>
                        <a:rPr lang="fr-FR" sz="1500" dirty="0" smtClean="0"/>
                        <a:t>Tous réalisés ensemble </a:t>
                      </a:r>
                      <a:endParaRPr sz="1500" dirty="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2"/>
                    </a:solidFill>
                  </a:tcPr>
                </a:tc>
                <a:extLst>
                  <a:ext uri="{0D108BD9-81ED-4DB2-BD59-A6C34878D82A}">
                    <a16:rowId xmlns:a16="http://schemas.microsoft.com/office/drawing/2014/main" val="10001"/>
                  </a:ext>
                </a:extLst>
              </a:tr>
              <a:tr h="480470">
                <a:tc>
                  <a:txBody>
                    <a:bodyPr/>
                    <a:lstStyle/>
                    <a:p>
                      <a:pPr marL="0" indent="0" algn="l" defTabSz="914400">
                        <a:buNone/>
                      </a:pPr>
                      <a:r>
                        <a:rPr lang="fr-FR" sz="1500" i="1" kern="1200" dirty="0" err="1" smtClean="0">
                          <a:solidFill>
                            <a:schemeClr val="accent5"/>
                          </a:solidFill>
                          <a:latin typeface="+mn-lt"/>
                          <a:ea typeface="+mn-ea"/>
                          <a:cs typeface="+mn-cs"/>
                        </a:rPr>
                        <a:t>Sekou</a:t>
                      </a:r>
                      <a:r>
                        <a:rPr lang="fr-FR" sz="1500" i="1" kern="1200" dirty="0" smtClean="0">
                          <a:solidFill>
                            <a:schemeClr val="accent5"/>
                          </a:solidFill>
                          <a:latin typeface="+mn-lt"/>
                          <a:ea typeface="+mn-ea"/>
                          <a:cs typeface="+mn-cs"/>
                        </a:rPr>
                        <a:t> Kaba </a:t>
                      </a:r>
                      <a:r>
                        <a:rPr lang="fr-FR" sz="1500" i="1" kern="1200" dirty="0" err="1" smtClean="0">
                          <a:solidFill>
                            <a:schemeClr val="accent5"/>
                          </a:solidFill>
                          <a:latin typeface="+mn-lt"/>
                          <a:ea typeface="+mn-ea"/>
                          <a:cs typeface="+mn-cs"/>
                        </a:rPr>
                        <a:t>Diakite</a:t>
                      </a:r>
                      <a:endParaRPr sz="1500" i="1" kern="1200" dirty="0">
                        <a:solidFill>
                          <a:schemeClr val="accent5"/>
                        </a:solidFill>
                        <a:latin typeface="+mn-lt"/>
                        <a:ea typeface="+mn-ea"/>
                        <a:cs typeface="+mn-cs"/>
                      </a:endParaRPr>
                    </a:p>
                  </a:txBody>
                  <a:tcPr marL="109728" marR="109728" anchor="ctr">
                    <a:lnL w="9525" cmpd="sng">
                      <a:solidFill>
                        <a:srgbClr val="E3E6EE"/>
                      </a:solidFill>
                      <a:prstDash val="solid"/>
                    </a:lnL>
                    <a:lnR w="9525" cap="flat" cmpd="sng" algn="ctr">
                      <a:solidFill>
                        <a:srgbClr val="E3E6EE"/>
                      </a:solidFill>
                      <a:prstDash val="solid"/>
                      <a:round/>
                      <a:headEnd type="none" w="med" len="med"/>
                      <a:tailEnd type="none" w="med" len="med"/>
                    </a:lnR>
                    <a:lnT w="9525" cmpd="sng">
                      <a:solidFill>
                        <a:srgbClr val="E3E6EE"/>
                      </a:solidFill>
                      <a:prstDash val="solid"/>
                    </a:lnT>
                    <a:lnB w="9525" cap="flat" cmpd="sng" algn="ctr">
                      <a:solidFill>
                        <a:srgbClr val="E3E6EE"/>
                      </a:solidFill>
                      <a:prstDash val="solid"/>
                      <a:round/>
                      <a:headEnd type="none" w="med" len="med"/>
                      <a:tailEnd type="none" w="med" len="med"/>
                    </a:lnB>
                    <a:solidFill>
                      <a:schemeClr val="bg1"/>
                    </a:solidFill>
                  </a:tcPr>
                </a:tc>
                <a:tc>
                  <a:txBody>
                    <a:bodyPr/>
                    <a:lstStyle/>
                    <a:p>
                      <a:pPr marL="0" indent="0">
                        <a:buNone/>
                      </a:pPr>
                      <a:r>
                        <a:rPr lang="fr-FR" sz="1500" dirty="0" smtClean="0"/>
                        <a:t>Tous réalisés ensemble </a:t>
                      </a:r>
                      <a:endParaRPr lang="fr-FR" sz="1500" dirty="0"/>
                    </a:p>
                  </a:txBody>
                  <a:tcPr marL="109728" marR="10972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mpd="sng">
                      <a:solidFill>
                        <a:srgbClr val="E3E6EE"/>
                      </a:solidFill>
                      <a:prstDash val="solid"/>
                    </a:lnT>
                    <a:lnB w="9525" cap="flat" cmpd="sng" algn="ctr">
                      <a:solidFill>
                        <a:srgbClr val="E3E6EE"/>
                      </a:solidFill>
                      <a:prstDash val="solid"/>
                      <a:round/>
                      <a:headEnd type="none" w="med" len="med"/>
                      <a:tailEnd type="none" w="med" len="med"/>
                    </a:lnB>
                    <a:solidFill>
                      <a:schemeClr val="bg1"/>
                    </a:solidFill>
                  </a:tcPr>
                </a:tc>
                <a:extLst>
                  <a:ext uri="{0D108BD9-81ED-4DB2-BD59-A6C34878D82A}">
                    <a16:rowId xmlns:a16="http://schemas.microsoft.com/office/drawing/2014/main" val="1582692366"/>
                  </a:ext>
                </a:extLst>
              </a:tr>
              <a:tr h="480470">
                <a:tc>
                  <a:txBody>
                    <a:bodyPr/>
                    <a:lstStyle/>
                    <a:p>
                      <a:pPr marL="0" indent="0">
                        <a:buNone/>
                      </a:pPr>
                      <a:r>
                        <a:rPr lang="fr-FR" sz="1500" i="1" dirty="0" smtClean="0">
                          <a:solidFill>
                            <a:schemeClr val="accent5"/>
                          </a:solidFill>
                        </a:rPr>
                        <a:t>Oumar Camara</a:t>
                      </a:r>
                      <a:endParaRPr sz="1500" dirty="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1"/>
                    </a:solidFill>
                  </a:tcPr>
                </a:tc>
                <a:tc>
                  <a:txBody>
                    <a:bodyPr/>
                    <a:lstStyle/>
                    <a:p>
                      <a:pPr marL="0" indent="0">
                        <a:buNone/>
                      </a:pPr>
                      <a:r>
                        <a:rPr lang="fr-FR" sz="1500" smtClean="0"/>
                        <a:t>Tous réalisés ensemble </a:t>
                      </a:r>
                      <a:endParaRPr lang="fr-FR" sz="1500" dirty="0"/>
                    </a:p>
                  </a:txBody>
                  <a:tcPr marL="109728" marR="109728" anchor="ctr">
                    <a:lnL w="9525" cmpd="sng">
                      <a:solidFill>
                        <a:srgbClr val="E3E6EE"/>
                      </a:solidFill>
                      <a:prstDash val="solid"/>
                    </a:lnL>
                    <a:lnR w="9525" cmpd="sng">
                      <a:solidFill>
                        <a:srgbClr val="E3E6EE"/>
                      </a:solidFill>
                      <a:prstDash val="solid"/>
                    </a:lnR>
                    <a:lnT w="9525" cmpd="sng">
                      <a:solidFill>
                        <a:srgbClr val="E3E6EE"/>
                      </a:solidFill>
                      <a:prstDash val="solid"/>
                    </a:lnT>
                    <a:lnB w="9525" cmpd="sng">
                      <a:solidFill>
                        <a:srgbClr val="E3E6EE"/>
                      </a:solidFill>
                      <a:prstDash val="solid"/>
                    </a:lnB>
                    <a:solidFill>
                      <a:schemeClr val="bg1"/>
                    </a:solidFill>
                  </a:tcPr>
                </a:tc>
                <a:extLst>
                  <a:ext uri="{0D108BD9-81ED-4DB2-BD59-A6C34878D82A}">
                    <a16:rowId xmlns:a16="http://schemas.microsoft.com/office/drawing/2014/main" val="10002"/>
                  </a:ext>
                </a:extLst>
              </a:tr>
            </a:tbl>
          </a:graphicData>
        </a:graphic>
      </p:graphicFrame>
      <p:sp>
        <p:nvSpPr>
          <p:cNvPr id="25" name="Slide Number Placeholder 0">
            <a:extLst>
              <a:ext uri="{FF2B5EF4-FFF2-40B4-BE49-F238E27FC236}">
                <a16:creationId xmlns:a16="http://schemas.microsoft.com/office/drawing/2014/main" id="{A1CC020E-CB17-4292-93B3-2FD554B8DDB5}"/>
              </a:ext>
            </a:extLst>
          </p:cNvPr>
          <p:cNvSpPr>
            <a:spLocks noGrp="1"/>
          </p:cNvSpPr>
          <p:nvPr>
            <p:ph type="sldNum" idx="4294967295"/>
          </p:nvPr>
        </p:nvSpPr>
        <p:spPr>
          <a:xfrm>
            <a:off x="11109960" y="6382512"/>
            <a:ext cx="457200" cy="274320"/>
          </a:xfrm>
          <a:prstGeom prst="rect">
            <a:avLst/>
          </a:prstGeom>
        </p:spPr>
        <p:txBody>
          <a:bodyPr/>
          <a:lstStyle>
            <a:lvl1pPr>
              <a:buNone/>
              <a:defRPr sz="1000">
                <a:solidFill>
                  <a:schemeClr val="accent6"/>
                </a:solidFill>
              </a:defRPr>
            </a:lvl1pPr>
          </a:lstStyle>
          <a:p>
            <a:pPr algn="r">
              <a:buNone/>
            </a:pPr>
            <a:fld id="{F7021451-1387-4CA6-816F-3879F97B5CBC}" type="slidenum">
              <a:rPr b="0"/>
              <a:t>9</a:t>
            </a:fld>
            <a:endParaRPr/>
          </a:p>
        </p:txBody>
      </p:sp>
    </p:spTree>
    <p:extLst>
      <p:ext uri="{BB962C8B-B14F-4D97-AF65-F5344CB8AC3E}">
        <p14:creationId xmlns:p14="http://schemas.microsoft.com/office/powerpoint/2010/main" val="1092461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D478DCC-B9A9-41F8-9596-44BCDE135DE1}"/>
              </a:ext>
            </a:extLst>
          </p:cNvPr>
          <p:cNvSpPr>
            <a:spLocks noGrp="1"/>
          </p:cNvSpPr>
          <p:nvPr>
            <p:ph type="title" idx="100" hasCustomPrompt="1"/>
          </p:nvPr>
        </p:nvSpPr>
        <p:spPr>
          <a:xfrm>
            <a:off x="612648" y="384048"/>
            <a:ext cx="10972800" cy="777240"/>
          </a:xfrm>
          <a:prstGeom prst="rect">
            <a:avLst/>
          </a:prstGeom>
          <a:noFill/>
        </p:spPr>
        <p:txBody>
          <a:bodyPr wrap="square" lIns="0" tIns="0" rIns="0" bIns="0" anchor="ctr"/>
          <a:lstStyle/>
          <a:p>
            <a:pPr marL="0" indent="0" algn="l">
              <a:buNone/>
            </a:pPr>
            <a:r>
              <a:rPr sz="3400" b="1">
                <a:solidFill>
                  <a:schemeClr val="bg1"/>
                </a:solidFill>
              </a:rPr>
              <a:t>Merci — vos questions</a:t>
            </a:r>
            <a:endParaRPr sz="3400"/>
          </a:p>
        </p:txBody>
      </p:sp>
      <p:sp>
        <p:nvSpPr>
          <p:cNvPr id="3" name="pastille-96">
            <a:extLst>
              <a:ext uri="{FF2B5EF4-FFF2-40B4-BE49-F238E27FC236}">
                <a16:creationId xmlns:a16="http://schemas.microsoft.com/office/drawing/2014/main" id="{87DA6760-4D00-41C1-B04E-BA2B8A632A98}"/>
              </a:ext>
            </a:extLst>
          </p:cNvPr>
          <p:cNvSpPr>
            <a:spLocks noGrp="1"/>
          </p:cNvSpPr>
          <p:nvPr/>
        </p:nvSpPr>
        <p:spPr>
          <a:xfrm>
            <a:off x="612648" y="1645920"/>
            <a:ext cx="777240" cy="777240"/>
          </a:xfrm>
          <a:prstGeom prst="ellipse">
            <a:avLst/>
          </a:prstGeom>
          <a:solidFill>
            <a:schemeClr val="accent2"/>
          </a:solidFill>
        </p:spPr>
      </p:sp>
      <p:pic>
        <p:nvPicPr>
          <p:cNvPr id="4" name="icone-97">
            <a:extLst>
              <a:ext uri="{FF2B5EF4-FFF2-40B4-BE49-F238E27FC236}">
                <a16:creationId xmlns:a16="http://schemas.microsoft.com/office/drawing/2014/main" id="{CBDEFA30-19A5-407D-BC57-10FD7B6A96E3}"/>
              </a:ext>
            </a:extLst>
          </p:cNvPr>
          <p:cNvPicPr>
            <a:picLocks noChangeAspect="1"/>
          </p:cNvPicPr>
          <p:nvPr/>
        </p:nvPicPr>
        <p:blipFill>
          <a:blip r:embed="rId3"/>
          <a:stretch>
            <a:fillRect/>
          </a:stretch>
        </p:blipFill>
        <p:spPr>
          <a:xfrm>
            <a:off x="822503" y="1855775"/>
            <a:ext cx="357530" cy="357530"/>
          </a:xfrm>
          <a:prstGeom prst="rect">
            <a:avLst/>
          </a:prstGeom>
        </p:spPr>
      </p:pic>
      <p:sp>
        <p:nvSpPr>
          <p:cNvPr id="5" name="texte-98">
            <a:extLst>
              <a:ext uri="{FF2B5EF4-FFF2-40B4-BE49-F238E27FC236}">
                <a16:creationId xmlns:a16="http://schemas.microsoft.com/office/drawing/2014/main" id="{98D471CE-AA04-47FB-AC5A-901E7E4360ED}"/>
              </a:ext>
            </a:extLst>
          </p:cNvPr>
          <p:cNvSpPr>
            <a:spLocks noGrp="1"/>
          </p:cNvSpPr>
          <p:nvPr/>
        </p:nvSpPr>
        <p:spPr>
          <a:xfrm>
            <a:off x="1664208" y="1645920"/>
            <a:ext cx="9601200" cy="777240"/>
          </a:xfrm>
          <a:prstGeom prst="rect">
            <a:avLst/>
          </a:prstGeom>
          <a:noFill/>
        </p:spPr>
        <p:txBody>
          <a:bodyPr wrap="square" lIns="0" tIns="0" rIns="0" bIns="0" anchor="ctr"/>
          <a:lstStyle/>
          <a:p>
            <a:pPr marL="0" indent="0">
              <a:buNone/>
            </a:pPr>
            <a:r>
              <a:rPr sz="2000">
                <a:solidFill>
                  <a:schemeClr val="bg1"/>
                </a:solidFill>
              </a:rPr>
              <a:t>Code : Sabiloul Houda - Bulletins.exe et archive source du projet.</a:t>
            </a:r>
            <a:endParaRPr sz="2000"/>
          </a:p>
        </p:txBody>
      </p:sp>
      <p:sp>
        <p:nvSpPr>
          <p:cNvPr id="6" name="pastille-99">
            <a:extLst>
              <a:ext uri="{FF2B5EF4-FFF2-40B4-BE49-F238E27FC236}">
                <a16:creationId xmlns:a16="http://schemas.microsoft.com/office/drawing/2014/main" id="{E899E9B0-4DD8-43E1-8443-7048BF8C025F}"/>
              </a:ext>
            </a:extLst>
          </p:cNvPr>
          <p:cNvSpPr>
            <a:spLocks noGrp="1"/>
          </p:cNvSpPr>
          <p:nvPr/>
        </p:nvSpPr>
        <p:spPr>
          <a:xfrm>
            <a:off x="612648" y="2834640"/>
            <a:ext cx="777240" cy="777240"/>
          </a:xfrm>
          <a:prstGeom prst="ellipse">
            <a:avLst/>
          </a:prstGeom>
          <a:solidFill>
            <a:schemeClr val="accent3"/>
          </a:solidFill>
        </p:spPr>
      </p:sp>
      <p:pic>
        <p:nvPicPr>
          <p:cNvPr id="7" name="icone-100">
            <a:extLst>
              <a:ext uri="{FF2B5EF4-FFF2-40B4-BE49-F238E27FC236}">
                <a16:creationId xmlns:a16="http://schemas.microsoft.com/office/drawing/2014/main" id="{218212CA-BB20-4882-A1FB-EF8A6B471184}"/>
              </a:ext>
            </a:extLst>
          </p:cNvPr>
          <p:cNvPicPr>
            <a:picLocks noChangeAspect="1"/>
          </p:cNvPicPr>
          <p:nvPr/>
        </p:nvPicPr>
        <p:blipFill>
          <a:blip r:embed="rId4"/>
          <a:stretch>
            <a:fillRect/>
          </a:stretch>
        </p:blipFill>
        <p:spPr>
          <a:xfrm>
            <a:off x="822503" y="3044495"/>
            <a:ext cx="357530" cy="357530"/>
          </a:xfrm>
          <a:prstGeom prst="rect">
            <a:avLst/>
          </a:prstGeom>
        </p:spPr>
      </p:pic>
      <p:sp>
        <p:nvSpPr>
          <p:cNvPr id="8" name="texte-101">
            <a:extLst>
              <a:ext uri="{FF2B5EF4-FFF2-40B4-BE49-F238E27FC236}">
                <a16:creationId xmlns:a16="http://schemas.microsoft.com/office/drawing/2014/main" id="{2066F1B3-C5E9-421C-AB69-A8AD9C080955}"/>
              </a:ext>
            </a:extLst>
          </p:cNvPr>
          <p:cNvSpPr>
            <a:spLocks noGrp="1"/>
          </p:cNvSpPr>
          <p:nvPr/>
        </p:nvSpPr>
        <p:spPr>
          <a:xfrm>
            <a:off x="1664208" y="2834640"/>
            <a:ext cx="9601200" cy="777240"/>
          </a:xfrm>
          <a:prstGeom prst="rect">
            <a:avLst/>
          </a:prstGeom>
          <a:noFill/>
        </p:spPr>
        <p:txBody>
          <a:bodyPr wrap="square" lIns="0" tIns="0" rIns="0" bIns="0" anchor="ctr"/>
          <a:lstStyle/>
          <a:p>
            <a:pPr marL="0" indent="0">
              <a:buNone/>
            </a:pPr>
            <a:r>
              <a:rPr sz="2000">
                <a:solidFill>
                  <a:schemeClr val="bg1"/>
                </a:solidFill>
              </a:rPr>
              <a:t>README, dépendances et instructions de construction : dans l’archive du projet.</a:t>
            </a:r>
            <a:endParaRPr sz="2000"/>
          </a:p>
        </p:txBody>
      </p:sp>
      <p:sp>
        <p:nvSpPr>
          <p:cNvPr id="9" name="pastille-102">
            <a:extLst>
              <a:ext uri="{FF2B5EF4-FFF2-40B4-BE49-F238E27FC236}">
                <a16:creationId xmlns:a16="http://schemas.microsoft.com/office/drawing/2014/main" id="{1B720EEA-D6E6-43D0-8D03-F799D90E9F71}"/>
              </a:ext>
            </a:extLst>
          </p:cNvPr>
          <p:cNvSpPr>
            <a:spLocks noGrp="1"/>
          </p:cNvSpPr>
          <p:nvPr/>
        </p:nvSpPr>
        <p:spPr>
          <a:xfrm>
            <a:off x="612648" y="4023360"/>
            <a:ext cx="777240" cy="777240"/>
          </a:xfrm>
          <a:prstGeom prst="ellipse">
            <a:avLst/>
          </a:prstGeom>
          <a:solidFill>
            <a:schemeClr val="accent1"/>
          </a:solidFill>
        </p:spPr>
      </p:sp>
      <p:pic>
        <p:nvPicPr>
          <p:cNvPr id="10" name="icone-103">
            <a:extLst>
              <a:ext uri="{FF2B5EF4-FFF2-40B4-BE49-F238E27FC236}">
                <a16:creationId xmlns:a16="http://schemas.microsoft.com/office/drawing/2014/main" id="{7BD92224-D982-4DDE-82FB-358366F807CF}"/>
              </a:ext>
            </a:extLst>
          </p:cNvPr>
          <p:cNvPicPr>
            <a:picLocks noChangeAspect="1"/>
          </p:cNvPicPr>
          <p:nvPr/>
        </p:nvPicPr>
        <p:blipFill>
          <a:blip r:embed="rId5"/>
          <a:stretch>
            <a:fillRect/>
          </a:stretch>
        </p:blipFill>
        <p:spPr>
          <a:xfrm>
            <a:off x="822503" y="4233215"/>
            <a:ext cx="357530" cy="357530"/>
          </a:xfrm>
          <a:prstGeom prst="rect">
            <a:avLst/>
          </a:prstGeom>
        </p:spPr>
      </p:pic>
      <p:sp>
        <p:nvSpPr>
          <p:cNvPr id="11" name="texte-104">
            <a:extLst>
              <a:ext uri="{FF2B5EF4-FFF2-40B4-BE49-F238E27FC236}">
                <a16:creationId xmlns:a16="http://schemas.microsoft.com/office/drawing/2014/main" id="{F2AB185E-E133-4B25-9B90-F4907C1E2C57}"/>
              </a:ext>
            </a:extLst>
          </p:cNvPr>
          <p:cNvSpPr>
            <a:spLocks noGrp="1"/>
          </p:cNvSpPr>
          <p:nvPr/>
        </p:nvSpPr>
        <p:spPr>
          <a:xfrm>
            <a:off x="1664208" y="4023360"/>
            <a:ext cx="9601200" cy="777240"/>
          </a:xfrm>
          <a:prstGeom prst="rect">
            <a:avLst/>
          </a:prstGeom>
          <a:noFill/>
        </p:spPr>
        <p:txBody>
          <a:bodyPr wrap="square" lIns="0" tIns="0" rIns="0" bIns="0" anchor="ctr"/>
          <a:lstStyle/>
          <a:p>
            <a:pPr marL="0" indent="0">
              <a:buNone/>
            </a:pPr>
            <a:r>
              <a:rPr sz="2000" dirty="0">
                <a:solidFill>
                  <a:schemeClr val="bg1"/>
                </a:solidFill>
              </a:rPr>
              <a:t>Groupe à préciser · </a:t>
            </a:r>
            <a:r>
              <a:rPr sz="2000" dirty="0" err="1">
                <a:solidFill>
                  <a:schemeClr val="bg1"/>
                </a:solidFill>
              </a:rPr>
              <a:t>Membres</a:t>
            </a:r>
            <a:r>
              <a:rPr sz="2000" dirty="0">
                <a:solidFill>
                  <a:schemeClr val="bg1"/>
                </a:solidFill>
              </a:rPr>
              <a:t> à préciser</a:t>
            </a:r>
            <a:endParaRPr sz="2000" dirty="0"/>
          </a:p>
        </p:txBody>
      </p:sp>
      <p:sp>
        <p:nvSpPr>
          <p:cNvPr id="25" name="Slide Number Placeholder 0">
            <a:extLst>
              <a:ext uri="{FF2B5EF4-FFF2-40B4-BE49-F238E27FC236}">
                <a16:creationId xmlns:a16="http://schemas.microsoft.com/office/drawing/2014/main" id="{B75684F1-E666-434D-939C-282EBF18330D}"/>
              </a:ext>
            </a:extLst>
          </p:cNvPr>
          <p:cNvSpPr>
            <a:spLocks noGrp="1"/>
          </p:cNvSpPr>
          <p:nvPr>
            <p:ph type="sldNum" idx="4294967295"/>
          </p:nvPr>
        </p:nvSpPr>
        <p:spPr>
          <a:xfrm>
            <a:off x="11109960" y="6382512"/>
            <a:ext cx="457200" cy="274320"/>
          </a:xfrm>
          <a:prstGeom prst="rect">
            <a:avLst/>
          </a:prstGeom>
        </p:spPr>
        <p:txBody>
          <a:bodyPr/>
          <a:lstStyle>
            <a:lvl1pPr>
              <a:buNone/>
              <a:defRPr sz="1000">
                <a:solidFill>
                  <a:schemeClr val="accent5"/>
                </a:solidFill>
              </a:defRPr>
            </a:lvl1pPr>
          </a:lstStyle>
          <a:p>
            <a:pPr algn="r">
              <a:buNone/>
            </a:pPr>
            <a:fld id="{F7021451-1387-4CA6-816F-3879F97B5CBC}" type="slidenum">
              <a:rPr b="0"/>
              <a:t>10</a:t>
            </a:fld>
            <a:endParaRPr/>
          </a:p>
        </p:txBody>
      </p:sp>
    </p:spTree>
    <p:extLst>
      <p:ext uri="{BB962C8B-B14F-4D97-AF65-F5344CB8AC3E}">
        <p14:creationId xmlns:p14="http://schemas.microsoft.com/office/powerpoint/2010/main" val="756696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86ACC61-6792-415F-B6D6-E141B5886E5D}"/>
              </a:ext>
            </a:extLst>
          </p:cNvPr>
          <p:cNvSpPr>
            <a:spLocks noGrp="1"/>
          </p:cNvSpPr>
          <p:nvPr>
            <p:ph type="title" idx="100" hasCustomPrompt="1"/>
          </p:nvPr>
        </p:nvSpPr>
        <p:spPr>
          <a:xfrm>
            <a:off x="612648" y="384048"/>
            <a:ext cx="10972800" cy="777240"/>
          </a:xfrm>
          <a:prstGeom prst="rect">
            <a:avLst/>
          </a:prstGeom>
          <a:noFill/>
        </p:spPr>
        <p:txBody>
          <a:bodyPr wrap="square" lIns="0" tIns="0" rIns="0" bIns="0" anchor="ctr"/>
          <a:lstStyle/>
          <a:p>
            <a:pPr marL="0" indent="0" algn="l">
              <a:buNone/>
            </a:pPr>
            <a:r>
              <a:rPr sz="3400" b="1">
                <a:solidFill>
                  <a:schemeClr val="tx1"/>
                </a:solidFill>
              </a:rPr>
              <a:t>Annexe — Captures à préparer pour le plan B</a:t>
            </a:r>
            <a:endParaRPr sz="3400"/>
          </a:p>
        </p:txBody>
      </p:sp>
      <p:sp>
        <p:nvSpPr>
          <p:cNvPr id="3" name="zone-image-105">
            <a:extLst>
              <a:ext uri="{FF2B5EF4-FFF2-40B4-BE49-F238E27FC236}">
                <a16:creationId xmlns:a16="http://schemas.microsoft.com/office/drawing/2014/main" id="{C9C3B08A-1A64-4FD7-819C-0C638524DF08}"/>
              </a:ext>
            </a:extLst>
          </p:cNvPr>
          <p:cNvSpPr>
            <a:spLocks noGrp="1"/>
          </p:cNvSpPr>
          <p:nvPr/>
        </p:nvSpPr>
        <p:spPr>
          <a:xfrm>
            <a:off x="612648" y="1371600"/>
            <a:ext cx="5349240" cy="2103120"/>
          </a:xfrm>
          <a:prstGeom prst="roundRect">
            <a:avLst>
              <a:gd name="adj" fmla="val 4348"/>
            </a:avLst>
          </a:prstGeom>
          <a:solidFill>
            <a:schemeClr val="bg2"/>
          </a:solidFill>
          <a:ln w="15875">
            <a:solidFill>
              <a:schemeClr val="accent5"/>
            </a:solidFill>
            <a:prstDash val="dash"/>
          </a:ln>
        </p:spPr>
      </p:sp>
      <p:sp>
        <p:nvSpPr>
          <p:cNvPr id="4" name="Text 15">
            <a:extLst>
              <a:ext uri="{FF2B5EF4-FFF2-40B4-BE49-F238E27FC236}">
                <a16:creationId xmlns:a16="http://schemas.microsoft.com/office/drawing/2014/main" id="{EFE6BF87-DE43-4FDA-825C-DBFEF9A1D605}"/>
              </a:ext>
            </a:extLst>
          </p:cNvPr>
          <p:cNvSpPr>
            <a:spLocks noGrp="1"/>
          </p:cNvSpPr>
          <p:nvPr/>
        </p:nvSpPr>
        <p:spPr>
          <a:xfrm>
            <a:off x="886968" y="1371600"/>
            <a:ext cx="4800600" cy="2103120"/>
          </a:xfrm>
          <a:prstGeom prst="rect">
            <a:avLst/>
          </a:prstGeom>
          <a:noFill/>
        </p:spPr>
        <p:txBody>
          <a:bodyPr wrap="square" lIns="0" tIns="0" rIns="0" bIns="0" anchor="ctr"/>
          <a:lstStyle/>
          <a:p>
            <a:pPr marL="0" indent="0" algn="ctr">
              <a:buNone/>
            </a:pPr>
            <a:r>
              <a:rPr sz="1600" i="1" dirty="0">
                <a:solidFill>
                  <a:schemeClr val="accent5"/>
                </a:solidFill>
              </a:rPr>
              <a:t>À </a:t>
            </a:r>
            <a:r>
              <a:rPr sz="1600" i="1" dirty="0" err="1">
                <a:solidFill>
                  <a:schemeClr val="accent5"/>
                </a:solidFill>
              </a:rPr>
              <a:t>ajouter</a:t>
            </a:r>
            <a:r>
              <a:rPr sz="1600" i="1" dirty="0">
                <a:solidFill>
                  <a:schemeClr val="accent5"/>
                </a:solidFill>
              </a:rPr>
              <a:t> : </a:t>
            </a:r>
            <a:r>
              <a:rPr sz="1600" i="1" dirty="0" err="1">
                <a:solidFill>
                  <a:schemeClr val="accent5"/>
                </a:solidFill>
              </a:rPr>
              <a:t>liste</a:t>
            </a:r>
            <a:r>
              <a:rPr sz="1600" i="1" dirty="0">
                <a:solidFill>
                  <a:schemeClr val="accent5"/>
                </a:solidFill>
              </a:rPr>
              <a:t> des </a:t>
            </a:r>
            <a:r>
              <a:rPr sz="1600" i="1" dirty="0" err="1">
                <a:solidFill>
                  <a:schemeClr val="accent5"/>
                </a:solidFill>
              </a:rPr>
              <a:t>élèves</a:t>
            </a:r>
            <a:r>
              <a:rPr sz="1600" i="1" dirty="0">
                <a:solidFill>
                  <a:schemeClr val="accent5"/>
                </a:solidFill>
              </a:rPr>
              <a:t> par </a:t>
            </a:r>
            <a:r>
              <a:rPr sz="1600" i="1" dirty="0" err="1">
                <a:solidFill>
                  <a:schemeClr val="accent5"/>
                </a:solidFill>
              </a:rPr>
              <a:t>classe</a:t>
            </a:r>
            <a:r>
              <a:rPr sz="1600" i="1" dirty="0">
                <a:solidFill>
                  <a:schemeClr val="accent5"/>
                </a:solidFill>
              </a:rPr>
              <a:t>, </a:t>
            </a:r>
            <a:r>
              <a:rPr sz="1600" i="1" dirty="0" err="1">
                <a:solidFill>
                  <a:schemeClr val="accent5"/>
                </a:solidFill>
              </a:rPr>
              <a:t>triée</a:t>
            </a:r>
            <a:r>
              <a:rPr sz="1600" i="1" dirty="0">
                <a:solidFill>
                  <a:schemeClr val="accent5"/>
                </a:solidFill>
              </a:rPr>
              <a:t> par nom.</a:t>
            </a:r>
            <a:endParaRPr sz="1600" dirty="0"/>
          </a:p>
        </p:txBody>
      </p:sp>
      <p:sp>
        <p:nvSpPr>
          <p:cNvPr id="5" name="zone-image-107">
            <a:extLst>
              <a:ext uri="{FF2B5EF4-FFF2-40B4-BE49-F238E27FC236}">
                <a16:creationId xmlns:a16="http://schemas.microsoft.com/office/drawing/2014/main" id="{C3CCE8E3-EF2E-46DC-A0D8-4498A80CAE1D}"/>
              </a:ext>
            </a:extLst>
          </p:cNvPr>
          <p:cNvSpPr>
            <a:spLocks noGrp="1"/>
          </p:cNvSpPr>
          <p:nvPr/>
        </p:nvSpPr>
        <p:spPr>
          <a:xfrm>
            <a:off x="6236208" y="1371600"/>
            <a:ext cx="5349240" cy="2103120"/>
          </a:xfrm>
          <a:prstGeom prst="roundRect">
            <a:avLst>
              <a:gd name="adj" fmla="val 4348"/>
            </a:avLst>
          </a:prstGeom>
          <a:solidFill>
            <a:schemeClr val="bg2"/>
          </a:solidFill>
          <a:ln w="15875">
            <a:solidFill>
              <a:schemeClr val="accent5"/>
            </a:solidFill>
            <a:prstDash val="dash"/>
          </a:ln>
        </p:spPr>
      </p:sp>
      <p:sp>
        <p:nvSpPr>
          <p:cNvPr id="6" name="Text 15">
            <a:extLst>
              <a:ext uri="{FF2B5EF4-FFF2-40B4-BE49-F238E27FC236}">
                <a16:creationId xmlns:a16="http://schemas.microsoft.com/office/drawing/2014/main" id="{ED9EAA49-A90D-4E3B-BF35-EEA084B33D03}"/>
              </a:ext>
            </a:extLst>
          </p:cNvPr>
          <p:cNvSpPr>
            <a:spLocks noGrp="1"/>
          </p:cNvSpPr>
          <p:nvPr/>
        </p:nvSpPr>
        <p:spPr>
          <a:xfrm>
            <a:off x="6236208" y="1371600"/>
            <a:ext cx="5330952" cy="2103120"/>
          </a:xfrm>
          <a:prstGeom prst="rect">
            <a:avLst/>
          </a:prstGeom>
          <a:noFill/>
        </p:spPr>
        <p:txBody>
          <a:bodyPr wrap="square" lIns="0" tIns="0" rIns="0" bIns="0" anchor="ctr"/>
          <a:lstStyle/>
          <a:p>
            <a:pPr marL="0" indent="0" algn="ctr">
              <a:buNone/>
            </a:pPr>
            <a:r>
              <a:rPr sz="1600" i="1" dirty="0">
                <a:solidFill>
                  <a:schemeClr val="accent5"/>
                </a:solidFill>
              </a:rPr>
              <a:t>À </a:t>
            </a:r>
            <a:r>
              <a:rPr sz="1600" i="1" dirty="0" err="1">
                <a:solidFill>
                  <a:schemeClr val="accent5"/>
                </a:solidFill>
              </a:rPr>
              <a:t>ajouter</a:t>
            </a:r>
            <a:r>
              <a:rPr sz="1600" i="1" dirty="0">
                <a:solidFill>
                  <a:schemeClr val="accent5"/>
                </a:solidFill>
              </a:rPr>
              <a:t> : </a:t>
            </a:r>
            <a:r>
              <a:rPr sz="1600" i="1" dirty="0" err="1">
                <a:solidFill>
                  <a:schemeClr val="accent5"/>
                </a:solidFill>
              </a:rPr>
              <a:t>saisie</a:t>
            </a:r>
            <a:r>
              <a:rPr sz="1600" i="1" dirty="0">
                <a:solidFill>
                  <a:schemeClr val="accent5"/>
                </a:solidFill>
              </a:rPr>
              <a:t> </a:t>
            </a:r>
            <a:r>
              <a:rPr sz="1600" i="1" dirty="0" err="1">
                <a:solidFill>
                  <a:schemeClr val="accent5"/>
                </a:solidFill>
              </a:rPr>
              <a:t>ou</a:t>
            </a:r>
            <a:r>
              <a:rPr sz="1600" i="1" dirty="0">
                <a:solidFill>
                  <a:schemeClr val="accent5"/>
                </a:solidFill>
              </a:rPr>
              <a:t> consultation des notes sur 10.</a:t>
            </a:r>
            <a:endParaRPr sz="1600" dirty="0"/>
          </a:p>
        </p:txBody>
      </p:sp>
      <p:sp>
        <p:nvSpPr>
          <p:cNvPr id="7" name="zone-image-109">
            <a:extLst>
              <a:ext uri="{FF2B5EF4-FFF2-40B4-BE49-F238E27FC236}">
                <a16:creationId xmlns:a16="http://schemas.microsoft.com/office/drawing/2014/main" id="{12AE5753-8592-408C-AFE2-E13B4B10A5B7}"/>
              </a:ext>
            </a:extLst>
          </p:cNvPr>
          <p:cNvSpPr>
            <a:spLocks noGrp="1"/>
          </p:cNvSpPr>
          <p:nvPr/>
        </p:nvSpPr>
        <p:spPr>
          <a:xfrm>
            <a:off x="612648" y="3657600"/>
            <a:ext cx="5349240" cy="2103120"/>
          </a:xfrm>
          <a:prstGeom prst="roundRect">
            <a:avLst>
              <a:gd name="adj" fmla="val 4348"/>
            </a:avLst>
          </a:prstGeom>
          <a:solidFill>
            <a:schemeClr val="bg2"/>
          </a:solidFill>
          <a:ln w="15875">
            <a:solidFill>
              <a:schemeClr val="accent5"/>
            </a:solidFill>
            <a:prstDash val="dash"/>
          </a:ln>
        </p:spPr>
      </p:sp>
      <p:sp>
        <p:nvSpPr>
          <p:cNvPr id="8" name="Text 15">
            <a:extLst>
              <a:ext uri="{FF2B5EF4-FFF2-40B4-BE49-F238E27FC236}">
                <a16:creationId xmlns:a16="http://schemas.microsoft.com/office/drawing/2014/main" id="{C9774E47-8B73-4302-800B-98352175BD72}"/>
              </a:ext>
            </a:extLst>
          </p:cNvPr>
          <p:cNvSpPr>
            <a:spLocks noGrp="1"/>
          </p:cNvSpPr>
          <p:nvPr/>
        </p:nvSpPr>
        <p:spPr>
          <a:xfrm>
            <a:off x="886968" y="3657600"/>
            <a:ext cx="4800600" cy="2103120"/>
          </a:xfrm>
          <a:prstGeom prst="rect">
            <a:avLst/>
          </a:prstGeom>
          <a:noFill/>
        </p:spPr>
        <p:txBody>
          <a:bodyPr wrap="square" lIns="0" tIns="0" rIns="0" bIns="0" anchor="ctr"/>
          <a:lstStyle/>
          <a:p>
            <a:pPr marL="0" indent="0" algn="ctr">
              <a:buNone/>
            </a:pPr>
            <a:r>
              <a:rPr sz="1600" i="1">
                <a:solidFill>
                  <a:schemeClr val="accent5"/>
                </a:solidFill>
              </a:rPr>
              <a:t>À ajouter : sélection d’un élève dans Bulletins individuels.</a:t>
            </a:r>
            <a:endParaRPr sz="1600"/>
          </a:p>
        </p:txBody>
      </p:sp>
      <p:sp>
        <p:nvSpPr>
          <p:cNvPr id="9" name="zone-image-111">
            <a:extLst>
              <a:ext uri="{FF2B5EF4-FFF2-40B4-BE49-F238E27FC236}">
                <a16:creationId xmlns:a16="http://schemas.microsoft.com/office/drawing/2014/main" id="{86EA5D70-5D23-4F04-A3C6-73BFBA37C8A9}"/>
              </a:ext>
            </a:extLst>
          </p:cNvPr>
          <p:cNvSpPr>
            <a:spLocks noGrp="1"/>
          </p:cNvSpPr>
          <p:nvPr/>
        </p:nvSpPr>
        <p:spPr>
          <a:xfrm>
            <a:off x="6236208" y="3657600"/>
            <a:ext cx="5349240" cy="2103120"/>
          </a:xfrm>
          <a:prstGeom prst="roundRect">
            <a:avLst>
              <a:gd name="adj" fmla="val 4348"/>
            </a:avLst>
          </a:prstGeom>
          <a:solidFill>
            <a:schemeClr val="bg2"/>
          </a:solidFill>
          <a:ln w="15875">
            <a:solidFill>
              <a:schemeClr val="accent5"/>
            </a:solidFill>
            <a:prstDash val="dash"/>
          </a:ln>
        </p:spPr>
      </p:sp>
      <p:sp>
        <p:nvSpPr>
          <p:cNvPr id="10" name="Text 15">
            <a:extLst>
              <a:ext uri="{FF2B5EF4-FFF2-40B4-BE49-F238E27FC236}">
                <a16:creationId xmlns:a16="http://schemas.microsoft.com/office/drawing/2014/main" id="{02997FB7-9C19-4B58-A6C6-F50CA443D521}"/>
              </a:ext>
            </a:extLst>
          </p:cNvPr>
          <p:cNvSpPr>
            <a:spLocks noGrp="1"/>
          </p:cNvSpPr>
          <p:nvPr/>
        </p:nvSpPr>
        <p:spPr>
          <a:xfrm>
            <a:off x="6236208" y="3657600"/>
            <a:ext cx="5074920" cy="2103120"/>
          </a:xfrm>
          <a:prstGeom prst="rect">
            <a:avLst/>
          </a:prstGeom>
          <a:noFill/>
        </p:spPr>
        <p:txBody>
          <a:bodyPr wrap="square" lIns="0" tIns="0" rIns="0" bIns="0" anchor="ctr"/>
          <a:lstStyle/>
          <a:p>
            <a:pPr marL="0" indent="0" algn="ctr">
              <a:buNone/>
            </a:pPr>
            <a:r>
              <a:rPr sz="1600" i="1" dirty="0">
                <a:solidFill>
                  <a:schemeClr val="accent5"/>
                </a:solidFill>
              </a:rPr>
              <a:t>À </a:t>
            </a:r>
            <a:r>
              <a:rPr sz="1600" i="1" dirty="0" err="1">
                <a:solidFill>
                  <a:schemeClr val="accent5"/>
                </a:solidFill>
              </a:rPr>
              <a:t>ajouter</a:t>
            </a:r>
            <a:r>
              <a:rPr sz="1600" i="1" dirty="0">
                <a:solidFill>
                  <a:schemeClr val="accent5"/>
                </a:solidFill>
              </a:rPr>
              <a:t> : </a:t>
            </a:r>
            <a:r>
              <a:rPr sz="1600" i="1" dirty="0" err="1">
                <a:solidFill>
                  <a:schemeClr val="accent5"/>
                </a:solidFill>
              </a:rPr>
              <a:t>aperçu</a:t>
            </a:r>
            <a:r>
              <a:rPr sz="1600" i="1" dirty="0">
                <a:solidFill>
                  <a:schemeClr val="accent5"/>
                </a:solidFill>
              </a:rPr>
              <a:t> du bulletin PDF </a:t>
            </a:r>
            <a:r>
              <a:rPr sz="1600" i="1" dirty="0" err="1">
                <a:solidFill>
                  <a:schemeClr val="accent5"/>
                </a:solidFill>
              </a:rPr>
              <a:t>ou</a:t>
            </a:r>
            <a:r>
              <a:rPr sz="1600" i="1" dirty="0">
                <a:solidFill>
                  <a:schemeClr val="accent5"/>
                </a:solidFill>
              </a:rPr>
              <a:t> d’un rapport.</a:t>
            </a:r>
            <a:endParaRPr sz="1600" dirty="0"/>
          </a:p>
        </p:txBody>
      </p:sp>
      <p:sp>
        <p:nvSpPr>
          <p:cNvPr id="25" name="Slide Number Placeholder 0">
            <a:extLst>
              <a:ext uri="{FF2B5EF4-FFF2-40B4-BE49-F238E27FC236}">
                <a16:creationId xmlns:a16="http://schemas.microsoft.com/office/drawing/2014/main" id="{0CD5225F-D4CB-4DE1-811E-17DB27F5B505}"/>
              </a:ext>
            </a:extLst>
          </p:cNvPr>
          <p:cNvSpPr>
            <a:spLocks noGrp="1"/>
          </p:cNvSpPr>
          <p:nvPr>
            <p:ph type="sldNum" idx="4294967295"/>
          </p:nvPr>
        </p:nvSpPr>
        <p:spPr>
          <a:xfrm>
            <a:off x="11109960" y="6382512"/>
            <a:ext cx="457200" cy="274320"/>
          </a:xfrm>
          <a:prstGeom prst="rect">
            <a:avLst/>
          </a:prstGeom>
        </p:spPr>
        <p:txBody>
          <a:bodyPr/>
          <a:lstStyle>
            <a:lvl1pPr>
              <a:buNone/>
              <a:defRPr sz="1000">
                <a:solidFill>
                  <a:schemeClr val="accent6"/>
                </a:solidFill>
              </a:defRPr>
            </a:lvl1pPr>
          </a:lstStyle>
          <a:p>
            <a:pPr algn="r">
              <a:buNone/>
            </a:pPr>
            <a:fld id="{F7021451-1387-4CA6-816F-3879F97B5CBC}" type="slidenum">
              <a:rPr b="0"/>
              <a:t>11</a:t>
            </a:fld>
            <a:endParaRPr/>
          </a:p>
        </p:txBody>
      </p:sp>
      <p:pic>
        <p:nvPicPr>
          <p:cNvPr id="12" name="Image 11"/>
          <p:cNvPicPr>
            <a:picLocks noChangeAspect="1"/>
          </p:cNvPicPr>
          <p:nvPr/>
        </p:nvPicPr>
        <p:blipFill>
          <a:blip r:embed="rId3"/>
          <a:stretch>
            <a:fillRect/>
          </a:stretch>
        </p:blipFill>
        <p:spPr>
          <a:xfrm>
            <a:off x="612648" y="1371601"/>
            <a:ext cx="5349240" cy="2103120"/>
          </a:xfrm>
          <a:prstGeom prst="rect">
            <a:avLst/>
          </a:prstGeom>
        </p:spPr>
      </p:pic>
      <p:pic>
        <p:nvPicPr>
          <p:cNvPr id="11" name="Image 10"/>
          <p:cNvPicPr>
            <a:picLocks noChangeAspect="1"/>
          </p:cNvPicPr>
          <p:nvPr/>
        </p:nvPicPr>
        <p:blipFill>
          <a:blip r:embed="rId4"/>
          <a:stretch>
            <a:fillRect/>
          </a:stretch>
        </p:blipFill>
        <p:spPr>
          <a:xfrm>
            <a:off x="612648" y="3657600"/>
            <a:ext cx="5349240" cy="2194560"/>
          </a:xfrm>
          <a:prstGeom prst="rect">
            <a:avLst/>
          </a:prstGeom>
        </p:spPr>
      </p:pic>
      <p:pic>
        <p:nvPicPr>
          <p:cNvPr id="13" name="Image 12"/>
          <p:cNvPicPr>
            <a:picLocks noChangeAspect="1"/>
          </p:cNvPicPr>
          <p:nvPr/>
        </p:nvPicPr>
        <p:blipFill>
          <a:blip r:embed="rId5"/>
          <a:stretch>
            <a:fillRect/>
          </a:stretch>
        </p:blipFill>
        <p:spPr>
          <a:xfrm>
            <a:off x="6236208" y="1371600"/>
            <a:ext cx="5330952" cy="2103120"/>
          </a:xfrm>
          <a:prstGeom prst="rect">
            <a:avLst/>
          </a:prstGeom>
        </p:spPr>
      </p:pic>
      <p:pic>
        <p:nvPicPr>
          <p:cNvPr id="14" name="Image 13"/>
          <p:cNvPicPr>
            <a:picLocks noChangeAspect="1"/>
          </p:cNvPicPr>
          <p:nvPr/>
        </p:nvPicPr>
        <p:blipFill>
          <a:blip r:embed="rId6"/>
          <a:stretch>
            <a:fillRect/>
          </a:stretch>
        </p:blipFill>
        <p:spPr>
          <a:xfrm>
            <a:off x="6236207" y="3572765"/>
            <a:ext cx="5330953" cy="2364229"/>
          </a:xfrm>
          <a:prstGeom prst="rect">
            <a:avLst/>
          </a:prstGeom>
        </p:spPr>
      </p:pic>
    </p:spTree>
    <p:extLst>
      <p:ext uri="{BB962C8B-B14F-4D97-AF65-F5344CB8AC3E}">
        <p14:creationId xmlns:p14="http://schemas.microsoft.com/office/powerpoint/2010/main" val="1742012182"/>
      </p:ext>
    </p:extLst>
  </p:cSld>
  <p:clrMapOvr>
    <a:masterClrMapping/>
  </p:clrMapOvr>
</p:sld>
</file>

<file path=ppt/theme/theme1.xml><?xml version="1.0" encoding="utf-8"?>
<a:theme xmlns:a="http://schemas.openxmlformats.org/drawingml/2006/main" name="IA et Codage informatique">
  <a:themeElements>
    <a:clrScheme name="IA et Codage informatique">
      <a:dk1>
        <a:srgbClr val="1B1F3B"/>
      </a:dk1>
      <a:lt1>
        <a:srgbClr val="FFFFFF"/>
      </a:lt1>
      <a:dk2>
        <a:srgbClr val="264653"/>
      </a:dk2>
      <a:lt2>
        <a:srgbClr val="F1F3F7"/>
      </a:lt2>
      <a:accent1>
        <a:srgbClr val="E76F51"/>
      </a:accent1>
      <a:accent2>
        <a:srgbClr val="2A9D8F"/>
      </a:accent2>
      <a:accent3>
        <a:srgbClr val="E9C46A"/>
      </a:accent3>
      <a:accent4>
        <a:srgbClr val="F4A261"/>
      </a:accent4>
      <a:accent5>
        <a:srgbClr val="8D99AE"/>
      </a:accent5>
      <a:accent6>
        <a:srgbClr val="4A5068"/>
      </a:accent6>
      <a:hlink>
        <a:srgbClr val="2A9D8F"/>
      </a:hlink>
      <a:folHlink>
        <a:srgbClr val="264653"/>
      </a:folHlink>
    </a:clrScheme>
    <a:fontScheme name="IA et Codage informatiqu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A et Codage informatiqu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IA et Codage informatique">
  <a:themeElements>
    <a:clrScheme name="IA et Codage informatique">
      <a:dk1>
        <a:srgbClr val="1B1F3B"/>
      </a:dk1>
      <a:lt1>
        <a:srgbClr val="FFFFFF"/>
      </a:lt1>
      <a:dk2>
        <a:srgbClr val="264653"/>
      </a:dk2>
      <a:lt2>
        <a:srgbClr val="F1F3F7"/>
      </a:lt2>
      <a:accent1>
        <a:srgbClr val="E76F51"/>
      </a:accent1>
      <a:accent2>
        <a:srgbClr val="2A9D8F"/>
      </a:accent2>
      <a:accent3>
        <a:srgbClr val="E9C46A"/>
      </a:accent3>
      <a:accent4>
        <a:srgbClr val="F4A261"/>
      </a:accent4>
      <a:accent5>
        <a:srgbClr val="8D99AE"/>
      </a:accent5>
      <a:accent6>
        <a:srgbClr val="4A5068"/>
      </a:accent6>
      <a:hlink>
        <a:srgbClr val="2A9D8F"/>
      </a:hlink>
      <a:folHlink>
        <a:srgbClr val="264653"/>
      </a:folHlink>
    </a:clrScheme>
    <a:fontScheme name="IA et Codage informatiqu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A et Codage informatiqu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1144</Words>
  <Application>Microsoft Office PowerPoint</Application>
  <DocSecurity>0</DocSecurity>
  <PresentationFormat>Grand écran</PresentationFormat>
  <Paragraphs>123</Paragraphs>
  <Slides>11</Slides>
  <Notes>11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Calibri</vt:lpstr>
      <vt:lpstr>Courier New</vt:lpstr>
      <vt:lpstr>IA et Codage informatique</vt:lpstr>
      <vt:lpstr>Sabiloul Houda — Gestion scolaire</vt:lpstr>
      <vt:lpstr>Le besoin</vt:lpstr>
      <vt:lpstr>Comment c’est construit</vt:lpstr>
      <vt:lpstr>Organisation des données</vt:lpstr>
      <vt:lpstr>Démonstration</vt:lpstr>
      <vt:lpstr>L’IA dans notre projet</vt:lpstr>
      <vt:lpstr>Une difficulté rencontrée</vt:lpstr>
      <vt:lpstr>Tests et sécurité</vt:lpstr>
      <vt:lpstr>Bilan</vt:lpstr>
      <vt:lpstr>Merci — vos questions</vt:lpstr>
      <vt:lpstr>Annexe — Captures à préparer pour le plan 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oumar camara</cp:lastModifiedBy>
  <cp:revision>8</cp:revision>
  <dcterms:created xsi:type="dcterms:W3CDTF">2026-10-24T00:43:01Z</dcterms:created>
  <dcterms:modified xsi:type="dcterms:W3CDTF">2026-10-25T22:32:29Z</dcterms:modified>
</cp:coreProperties>
</file>